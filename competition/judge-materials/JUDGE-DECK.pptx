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AX+02ReJcJCcXfgb4cYjqwqNs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deck is about one practical question: what can an AI system actually reach, and what can that path cause? HAIEC answers with deterministic, model-independent evidence rather than relying on another AI to judge the first AI.</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Hugging Face incident shows why intended access boundaries are not enough. The stated boundary was no direct internet access, but the reachable system still exposed an indirect path through Artifactory. The point is not fear; the point is evidence.</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central lesson is simple: a direct door can be locked while another hallway still exists. HAIEC is built to examine that second question: what does the connected system still make reachable?</a:t>
            </a:r>
            <a:endParaRPr/>
          </a:p>
        </p:txBody>
      </p:sp>
      <p:sp>
        <p:nvSpPr>
          <p:cNvPr id="37" name="Google Shape;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3</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Traditional controls often describe pieces: IAM, policy, logs, tests or scan results. HAIEC builds the missing action record that connects AI-facing capability to handler, service, resource, consequence and evidence.</a:t>
            </a:r>
            <a:endParaRPr/>
          </a:p>
        </p:txBody>
      </p:sp>
      <p:sp>
        <p:nvSpPr>
          <p:cNvPr id="48" name="Google Shape;4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4</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five-part method is Map, Prove, Assure, Compare and Carry. Under the hood, HAIEC constructs a deterministic evidence graph across AI capability, dispatch, implementation, resource and consequence relationships, then reconciles every consequential path against separate authority and evidence planes.</a:t>
            </a:r>
            <a:endParaRPr/>
          </a:p>
        </p:txBody>
      </p:sp>
      <p:sp>
        <p:nvSpPr>
          <p:cNvPr id="59" name="Google Shape;5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5</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KestrelVoice is the real evaluated application used to demonstrate the method. The goal is not to explain what the AI was meant to do; it is to show what the evaluated source snapshot actually makes reachable.</a:t>
            </a:r>
            <a:endParaRPr/>
          </a:p>
        </p:txBody>
      </p:sp>
      <p:sp>
        <p:nvSpPr>
          <p:cNvPr id="70" name="Google Shape;7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6</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HAIEC checked four release questions: what the AI can reach, what consequence it can cause, what controls bind that action, and what evidence supports the claim. The 32 checks and supporting metrics provide the evidence base behind the disposition.</a:t>
            </a:r>
            <a:endParaRPr/>
          </a:p>
        </p:txBody>
      </p:sp>
      <p:sp>
        <p:nvSpPr>
          <p:cNvPr id="81" name="Google Shape;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7</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hero finding is the ORDER RECORD WRITE path. Kestrel’s AI-facing capability reaches application code that can create a durable order record. That matters because the system does not need a permission label called write orders if the reachable code path can create that effect.</a:t>
            </a:r>
            <a:endParaRPr/>
          </a:p>
        </p:txBody>
      </p:sp>
      <p:sp>
        <p:nvSpPr>
          <p:cNvPr id="99" name="Google Shape;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8</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makes the control-binding point. A control existing somewhere in the system is not the same as a control binding the exact action that matters. HAIEC compares the order-write path against other tenant-filtered relations to avoid overgeneralizing.</a:t>
            </a:r>
            <a:endParaRPr/>
          </a:p>
        </p:txBody>
      </p:sp>
      <p:sp>
        <p:nvSpPr>
          <p:cNvPr id="110" name="Google Shape;11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9</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evidence planes explain why HAIEC does not collapse capability, permission and execution into one claim. Code capability was established for the selected path, while requested intent, policy authorization, effective authority and observed execution remain separate evidence questions.</a:t>
            </a:r>
            <a:endParaRPr/>
          </a:p>
        </p:txBody>
      </p:sp>
      <p:sp>
        <p:nvSpPr>
          <p:cNvPr id="121" name="Google Shape;12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10</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REVIEW is not a failure word. It is the evidence-supported posture when the system has enough proof to identify meaningful consequence paths but still needs plane-specific evidence before stronger release claims are justified.</a:t>
            </a:r>
            <a:endParaRPr/>
          </a:p>
        </p:txBody>
      </p:sp>
      <p:sp>
        <p:nvSpPr>
          <p:cNvPr id="139" name="Google Shape;13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A/B comparison extends the same discipline across releases. Git shows code change. HAIEC checks whether the consequential reach or control surface changed. The established result is CONTROL_CHANGED; unresolved absence claims remain unresolved instead of being converted into false certainty.</a:t>
            </a:r>
            <a:endParaRPr/>
          </a:p>
        </p:txBody>
      </p:sp>
      <p:sp>
        <p:nvSpPr>
          <p:cNvPr id="157" name="Google Shape;15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12</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Internet egress is only one surface. HAIEC generalizes the same assurance model across consequential enterprise actions such as data access, tool execution, configuration change, persistence, memory, human authority and release change.</a:t>
            </a:r>
            <a:endParaRPr/>
          </a:p>
        </p:txBody>
      </p:sp>
      <p:sp>
        <p:nvSpPr>
          <p:cNvPr id="175" name="Google Shape;17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13</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same evidence base can serve different audiences. Executives need the decision posture, engineers need the technical trace, auditors need provenance, and machines need structured evidence. The key is that these views project from the same underlying evaluation.</a:t>
            </a:r>
            <a:endParaRPr/>
          </a:p>
        </p:txBody>
      </p:sp>
      <p:sp>
        <p:nvSpPr>
          <p:cNvPr id="186" name="Google Shape;18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14</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trust matters for enterprise adoption. The deck shows the analysis posture: inspect the path, retain evidence, and avoid unnecessary repository retention. Stricter customers can run private or customer-controlled analyzer deployment patterns.</a:t>
            </a:r>
            <a:endParaRPr/>
          </a:p>
        </p:txBody>
      </p:sp>
      <p:sp>
        <p:nvSpPr>
          <p:cNvPr id="197" name="Google Shape;19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15</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handles the MunichTech provenance boundary. HAIEC existed before the event, while the MunichTech submission packages the consequence map, baseline evidence, A/B release comparison and judge-facing story around the competition requirements.</a:t>
            </a:r>
            <a:endParaRPr/>
          </a:p>
        </p:txBody>
      </p:sp>
      <p:sp>
        <p:nvSpPr>
          <p:cNvPr id="208" name="Google Shape;20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16</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Judges should start with the no-login public flagship demo: the Kestrel Assurance Report and the Kestrel System Consequence Map. The video provides the fastest orientation, while the public report and map allow direct inspection of the evidence. For reviewers who want to explore the authenticated product workflow, a dedicated MunichTech Demo workspace is provided on the next access slide.</a:t>
            </a:r>
            <a:endParaRPr/>
          </a:p>
        </p:txBody>
      </p:sp>
      <p:sp>
        <p:nvSpPr>
          <p:cNvPr id="219" name="Google Shape;21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17</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close returns to the thesis. Do not stop at what the AI was given. Prove what the system still lets it reach, what it can cause, and where the evidence boundary sits.</a:t>
            </a:r>
            <a:endParaRPr/>
          </a:p>
        </p:txBody>
      </p:sp>
      <p:sp>
        <p:nvSpPr>
          <p:cNvPr id="274" name="Google Shape;27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18</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Thank you slide. This MunichTech submission was prepared by Subodh KC, Founder of HAIEC with former Fortune 100 AI strategy and implementation experience; Kushal Gautam, Data Engineer at SAP; and Roshan Basnet, DevOps Engineer at United Airlines. Judges can continue from here to the demo, repository, Gold Evidence Pack and complete technical evaluation deck.</a:t>
            </a:r>
            <a:endParaRPr/>
          </a:p>
        </p:txBody>
      </p:sp>
      <p:sp>
        <p:nvSpPr>
          <p:cNvPr id="285" name="Google Shape;28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19</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This slide provides optional authenticated access for judges who want to explore the product workflow. The public flagship demo remains the recommended first path because it requires no login. The MunichTech Demo workspace uses demonstration data only and should be used for interactive review rather than production claims.</a:t>
            </a:r>
            <a:endParaRPr/>
          </a:p>
        </p:txBody>
      </p:sp>
      <p:sp>
        <p:nvSpPr>
          <p:cNvPr id="316" name="Google Shape;31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Appendix link hub. Use this slide for judge navigation: demo video, public Kestrel report, consequence map, repository, Gold Evidence Pack, A/B Evidence Pack, evidence guide, hands-on guide, complete technical evaluation deck and judge scoring map. Authenticated product-review credentials are provided on the optional access slide immediately after the Thank You slide.</a:t>
            </a:r>
            <a:endParaRPr/>
          </a:p>
        </p:txBody>
      </p:sp>
      <p:sp>
        <p:nvSpPr>
          <p:cNvPr id="359" name="Google Shape;35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21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Baseline evidence index. These image links point to the visual proof assets used in the deck for the frozen Kestrel baseline evaluation.</a:t>
            </a:r>
            <a:endParaRPr/>
          </a:p>
        </p:txBody>
      </p:sp>
      <p:sp>
        <p:nvSpPr>
          <p:cNvPr id="408" name="Google Shape;40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22</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 evidence index. These links point to the release-comparison screenshots that show selection, CONTROL_CHANGED, unresolved absence semantics, evidence planes and portable evidence.</a:t>
            </a:r>
            <a:endParaRPr/>
          </a:p>
        </p:txBody>
      </p:sp>
      <p:sp>
        <p:nvSpPr>
          <p:cNvPr id="445" name="Google Shape;44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23</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Evidence files index. These links point to the reports, manifests and machine-readable evidence used to support the public Kestrel baseline package.</a:t>
            </a:r>
            <a:endParaRPr/>
          </a:p>
        </p:txBody>
      </p:sp>
      <p:sp>
        <p:nvSpPr>
          <p:cNvPr id="476" name="Google Shape;47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t>24</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s://openai.com/index/hugging-face-incident-and-the-road-ahea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haiec.com/sample-reports/kestrel" TargetMode="External"/><Relationship Id="rId4" Type="http://schemas.openxmlformats.org/officeDocument/2006/relationships/hyperlink" Target="https://www.haiec.com/sample-reports/kestrel/constellation" TargetMode="External"/><Relationship Id="rId9" Type="http://schemas.openxmlformats.org/officeDocument/2006/relationships/hyperlink" Target="https://docs.google.com/presentation/d/1r-UUk8P6B-ruWQQJmZOcYz1_WxQI_fvD/edit?usp=drivesdk&amp;ouid=111506782395919709798&amp;rtpof=true&amp;sd=true" TargetMode="External"/><Relationship Id="rId5" Type="http://schemas.openxmlformats.org/officeDocument/2006/relationships/hyperlink" Target="https://youtu.be/5Eb2XnLJ8UE" TargetMode="External"/><Relationship Id="rId6" Type="http://schemas.openxmlformats.org/officeDocument/2006/relationships/hyperlink" Target="https://www.haiec.com/sample-reports/kestrel" TargetMode="External"/><Relationship Id="rId7" Type="http://schemas.openxmlformats.org/officeDocument/2006/relationships/hyperlink" Target="https://www.haiec.com/sample-reports/kestrel/constellation" TargetMode="External"/><Relationship Id="rId8" Type="http://schemas.openxmlformats.org/officeDocument/2006/relationships/hyperlink" Target="https://docs.google.com/document/d/1IeKMqhdn3d1aHS7JIS605f0LLaQq204C0sWNN1bp5uw/edit?usp=drivesdk"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youtu.be/5Eb2XnLJ8UE" TargetMode="External"/><Relationship Id="rId4" Type="http://schemas.openxmlformats.org/officeDocument/2006/relationships/hyperlink" Target="https://youtu.be/5Eb2XnLJ8UE" TargetMode="External"/><Relationship Id="rId5" Type="http://schemas.openxmlformats.org/officeDocument/2006/relationships/hyperlink" Target="https://youtu.be/5Eb2XnLJ8UE" TargetMode="External"/><Relationship Id="rId6" Type="http://schemas.openxmlformats.org/officeDocument/2006/relationships/hyperlink" Target="https://github.com/subodhkc/MunicEXPO" TargetMode="External"/><Relationship Id="rId7" Type="http://schemas.openxmlformats.org/officeDocument/2006/relationships/hyperlink" Target="https://drive.google.com/drive/folders/1zp2pRRGHtf16CtQs5uJaK85WnkZsVPVU" TargetMode="External"/><Relationship Id="rId8" Type="http://schemas.openxmlformats.org/officeDocument/2006/relationships/hyperlink" Target="https://docs.google.com/presentation/d/1r-UUk8P6B-ruWQQJmZOcYz1_WxQI_fvD/edit?usp=drivesdk&amp;ouid=111506782395919709798&amp;rtpof=true&amp;sd=tru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www.haiec.com/sample-reports/kestrel" TargetMode="External"/><Relationship Id="rId4" Type="http://schemas.openxmlformats.org/officeDocument/2006/relationships/hyperlink" Target="https://www.haiec.com/sample-reports/kestrel/constellation" TargetMode="External"/><Relationship Id="rId5" Type="http://schemas.openxmlformats.org/officeDocument/2006/relationships/hyperlink" Target="https://www.haiec.com/login" TargetMode="External"/></Relationships>
</file>

<file path=ppt/slides/_rels/slide21.xml.rels><?xml version="1.0" encoding="UTF-8" standalone="yes"?><Relationships xmlns="http://schemas.openxmlformats.org/package/2006/relationships"><Relationship Id="rId11" Type="http://schemas.openxmlformats.org/officeDocument/2006/relationships/hyperlink" Target="https://docs.google.com/document/d/1IeKMqhdn3d1aHS7JIS605f0LLaQq204C0sWNN1bp5uw/edit?usp=drivesdk" TargetMode="External"/><Relationship Id="rId10" Type="http://schemas.openxmlformats.org/officeDocument/2006/relationships/hyperlink" Target="https://drive.google.com/drive/folders/1S2gYsgRYr1PMq1fH_CDfxDjXOTbKO-dV" TargetMode="External"/><Relationship Id="rId13" Type="http://schemas.openxmlformats.org/officeDocument/2006/relationships/hyperlink" Target="https://docs.google.com/presentation/d/1r-UUk8P6B-ruWQQJmZOcYz1_WxQI_fvD/edit?usp=drivesdk&amp;ouid=111506782395919709798&amp;rtpof=true&amp;sd=true" TargetMode="External"/><Relationship Id="rId12" Type="http://schemas.openxmlformats.org/officeDocument/2006/relationships/hyperlink" Target="https://docs.google.com/document/d/11oyVG-9XCodf8KmRIxOoLtwnXuXQYAkV95wREy3DSzg/edit?usp=drivesdk" TargetMode="External"/><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youtu.be/5Eb2XnLJ8UE" TargetMode="External"/><Relationship Id="rId4" Type="http://schemas.openxmlformats.org/officeDocument/2006/relationships/hyperlink" Target="https://docs.google.com/document/d/1x0wNPmIrzUUvyohCfohWt563eIjtkYYIDS_NjcoeTxw/edit?usp=drivesdk" TargetMode="External"/><Relationship Id="rId9" Type="http://schemas.openxmlformats.org/officeDocument/2006/relationships/hyperlink" Target="https://drive.google.com/drive/folders/1zp2pRRGHtf16CtQs5uJaK85WnkZsVPVU" TargetMode="External"/><Relationship Id="rId15" Type="http://schemas.openxmlformats.org/officeDocument/2006/relationships/hyperlink" Target="https://docs.google.com/presentation/d/1r-UUk8P6B-ruWQQJmZOcYz1_WxQI_fvD/edit?usp=drivesdk&amp;ouid=111506782395919709798&amp;rtpof=true&amp;sd=true" TargetMode="External"/><Relationship Id="rId14" Type="http://schemas.openxmlformats.org/officeDocument/2006/relationships/hyperlink" Target="https://docs.google.com/presentation/d/1r-UUk8P6B-ruWQQJmZOcYz1_WxQI_fvD/edit?usp=drivesdk&amp;ouid=111506782395919709798&amp;rtpof=true&amp;sd=true" TargetMode="External"/><Relationship Id="rId16" Type="http://schemas.openxmlformats.org/officeDocument/2006/relationships/hyperlink" Target="https://docs.google.com/document/d/1vtEgiJ_n84hKcKR5v00ZEDBwe7HbdSzSHLzsBLpOQTE/edit?usp=drivesdk" TargetMode="External"/><Relationship Id="rId5" Type="http://schemas.openxmlformats.org/officeDocument/2006/relationships/hyperlink" Target="https://docs.google.com/document/d/1vWa_hP9c1Q9-PYnQnHFMKDHcG5hPKYIZHWKVVQsmmDc/edit?usp=drivesdk" TargetMode="External"/><Relationship Id="rId6" Type="http://schemas.openxmlformats.org/officeDocument/2006/relationships/hyperlink" Target="https://www.haiec.com/sample-reports/kestrel" TargetMode="External"/><Relationship Id="rId7" Type="http://schemas.openxmlformats.org/officeDocument/2006/relationships/hyperlink" Target="https://www.haiec.com/sample-reports/kestrel/constellation" TargetMode="External"/><Relationship Id="rId8" Type="http://schemas.openxmlformats.org/officeDocument/2006/relationships/hyperlink" Target="https://github.com/subodhkc/MunicEXPO" TargetMode="External"/></Relationships>
</file>

<file path=ppt/slides/_rels/slide22.xml.rels><?xml version="1.0" encoding="UTF-8" standalone="yes"?><Relationships xmlns="http://schemas.openxmlformats.org/package/2006/relationships"><Relationship Id="rId10" Type="http://schemas.openxmlformats.org/officeDocument/2006/relationships/hyperlink" Target="https://drive.google.com/file/d/1xcOvm1JguO2tIkqafXUp8Jk9HU4pST_8/view?usp=drivesdk" TargetMode="External"/><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drive.google.com/file/d/1DQxEXPQ-ZjkfDlQnQCd07jCcghJdIpU8/view?usp=drivesdk" TargetMode="External"/><Relationship Id="rId4" Type="http://schemas.openxmlformats.org/officeDocument/2006/relationships/hyperlink" Target="https://drive.google.com/file/d/1JNJpfofQTGKJ0ADtudOyiL6qG7xhwTb4/view?usp=drivesdk" TargetMode="External"/><Relationship Id="rId9" Type="http://schemas.openxmlformats.org/officeDocument/2006/relationships/hyperlink" Target="https://drive.google.com/file/d/16xI1uc64uiFJG_nX-n-WpWXdgnQ7FAbS/view?usp=drivesdk" TargetMode="External"/><Relationship Id="rId5" Type="http://schemas.openxmlformats.org/officeDocument/2006/relationships/hyperlink" Target="https://drive.google.com/file/d/1RuJjWHB0GQauAc6kxXDEy4I0S74W-_NG/view?usp=drivesdk" TargetMode="External"/><Relationship Id="rId6" Type="http://schemas.openxmlformats.org/officeDocument/2006/relationships/hyperlink" Target="https://drive.google.com/file/d/1-mv0G8YYwBLLPBPl2niY2pErZBPcqfXk/view?usp=drivesdk" TargetMode="External"/><Relationship Id="rId7" Type="http://schemas.openxmlformats.org/officeDocument/2006/relationships/hyperlink" Target="https://drive.google.com/file/d/14WdbH4VKJDobIGFnXL4FWkJvMrpKi09B/view?usp=drivesdk" TargetMode="External"/><Relationship Id="rId8" Type="http://schemas.openxmlformats.org/officeDocument/2006/relationships/hyperlink" Target="https://drive.google.com/file/d/1bjoRyU2drkyyYTShSYxCMh521xVdU4vc/view?usp=drivesdk"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drive.google.com/file/d/1cMmXEhHkKnxUGlvyC7LMhw4_untAJ7gU/view?usp=drivesdk" TargetMode="External"/><Relationship Id="rId4" Type="http://schemas.openxmlformats.org/officeDocument/2006/relationships/hyperlink" Target="https://drive.google.com/file/d/1gEbZqiklNc277s4AsAmf5sGM2uXmiM6o/view?usp=drivesdk" TargetMode="External"/><Relationship Id="rId5" Type="http://schemas.openxmlformats.org/officeDocument/2006/relationships/hyperlink" Target="https://drive.google.com/file/d/1xNqo1k9Otxu5Sn5eFFfxT8IIdQcaQfIm/view?usp=drivesdk" TargetMode="External"/><Relationship Id="rId6" Type="http://schemas.openxmlformats.org/officeDocument/2006/relationships/hyperlink" Target="https://drive.google.com/file/d/1YPkKITkMsdhu-XqSYkATU0ufG9SL5fIR/view?usp=drivesdk" TargetMode="External"/><Relationship Id="rId7" Type="http://schemas.openxmlformats.org/officeDocument/2006/relationships/hyperlink" Target="https://drive.google.com/file/d/1Y4ckmRG3LFct3y1bLDi-FfoFqcMe8Wur/view?usp=drivesdk" TargetMode="External"/><Relationship Id="rId8" Type="http://schemas.openxmlformats.org/officeDocument/2006/relationships/hyperlink" Target="https://drive.google.com/file/d/1wsOqH7jZk_f8rRRPctaG0eR7LrYap0Ux/view?usp=drivesdk"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drive.google.com/file/d/1nLRZoJheJqaVFJbVK5lljo6aPc0oT1s5/view?usp=drivesdk" TargetMode="External"/><Relationship Id="rId4" Type="http://schemas.openxmlformats.org/officeDocument/2006/relationships/hyperlink" Target="https://drive.google.com/file/d/1OApMS5HP2-OcgKbMbr4ugIiBoqexN7Rt/view?usp=drivesdk" TargetMode="External"/><Relationship Id="rId9" Type="http://schemas.openxmlformats.org/officeDocument/2006/relationships/hyperlink" Target="https://drive.google.com/file/d/1l3Cx3P9EFehy52_6j0sRgZ4GR1PEHrot/view?usp=drivesdk" TargetMode="External"/><Relationship Id="rId5" Type="http://schemas.openxmlformats.org/officeDocument/2006/relationships/hyperlink" Target="https://drive.google.com/file/d/1kg42QWo6psLV4Q7nzzak0rl0zezfnOPQ/view?usp=drivesdk" TargetMode="External"/><Relationship Id="rId6" Type="http://schemas.openxmlformats.org/officeDocument/2006/relationships/hyperlink" Target="https://drive.google.com/file/d/12bwzmhzRyymC7zzi2S2AncAZWLh8v7mp/view?usp=drivesdk" TargetMode="External"/><Relationship Id="rId7" Type="http://schemas.openxmlformats.org/officeDocument/2006/relationships/hyperlink" Target="https://drive.google.com/file/d/1brib7HDzw12bhXVXC5P6T5SBt-f16ygu/view?usp=drivesdk" TargetMode="External"/><Relationship Id="rId8" Type="http://schemas.openxmlformats.org/officeDocument/2006/relationships/hyperlink" Target="https://drive.google.com/file/d/1nx6-KrvNn3JIat_NdG9Vzs1wuA0aptJS/view?usp=drivesd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15" name="Shape 15"/>
        <p:cNvGrpSpPr/>
        <p:nvPr/>
      </p:nvGrpSpPr>
      <p:grpSpPr>
        <a:xfrm>
          <a:off x="0" y="0"/>
          <a:ext cx="0" cy="0"/>
          <a:chOff x="0" y="0"/>
          <a:chExt cx="0" cy="0"/>
        </a:xfrm>
      </p:grpSpPr>
      <p:pic>
        <p:nvPicPr>
          <p:cNvPr descr="/mnt/data/rendered_submission_ppt/slide-1.png" id="16" name="Google Shape;16;p1"/>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7" name="Google Shape;17;p1"/>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1"/>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19" name="Google Shape;19;p1"/>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a:t>
            </a:r>
            <a:endParaRPr/>
          </a:p>
        </p:txBody>
      </p:sp>
      <p:sp>
        <p:nvSpPr>
          <p:cNvPr id="20" name="Google Shape;20;p1"/>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1" name="Google Shape;21;p1"/>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26" name="Shape 26"/>
        <p:cNvGrpSpPr/>
        <p:nvPr/>
      </p:nvGrpSpPr>
      <p:grpSpPr>
        <a:xfrm>
          <a:off x="0" y="0"/>
          <a:ext cx="0" cy="0"/>
          <a:chOff x="0" y="0"/>
          <a:chExt cx="0" cy="0"/>
        </a:xfrm>
      </p:grpSpPr>
      <p:pic>
        <p:nvPicPr>
          <p:cNvPr descr="/mnt/data/rendered_submission_ppt/slide-2.png" id="27" name="Google Shape;27;p2"/>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8" name="Google Shape;28;p2"/>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 name="Google Shape;29;p2"/>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30" name="Google Shape;30;p2"/>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2</a:t>
            </a:r>
            <a:endParaRPr/>
          </a:p>
        </p:txBody>
      </p:sp>
      <p:sp>
        <p:nvSpPr>
          <p:cNvPr id="31" name="Google Shape;31;p2"/>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 name="Google Shape;32;p2"/>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
        <p:nvSpPr>
          <p:cNvPr id="33" name="Google Shape;33;p2">
            <a:hlinkClick r:id="rId4"/>
          </p:cNvPr>
          <p:cNvSpPr/>
          <p:nvPr/>
        </p:nvSpPr>
        <p:spPr>
          <a:xfrm>
            <a:off x="5120640" y="4919472"/>
            <a:ext cx="2240280" cy="146304"/>
          </a:xfrm>
          <a:prstGeom prst="rect">
            <a:avLst/>
          </a:prstGeom>
          <a:solidFill>
            <a:srgbClr val="FFFFFF">
              <a:alpha val="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38" name="Shape 38"/>
        <p:cNvGrpSpPr/>
        <p:nvPr/>
      </p:nvGrpSpPr>
      <p:grpSpPr>
        <a:xfrm>
          <a:off x="0" y="0"/>
          <a:ext cx="0" cy="0"/>
          <a:chOff x="0" y="0"/>
          <a:chExt cx="0" cy="0"/>
        </a:xfrm>
      </p:grpSpPr>
      <p:pic>
        <p:nvPicPr>
          <p:cNvPr descr="/mnt/data/rendered_submission_ppt/slide-3.png" id="39" name="Google Shape;39;p3"/>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40" name="Google Shape;40;p3"/>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3"/>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42" name="Google Shape;42;p3"/>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3</a:t>
            </a:r>
            <a:endParaRPr/>
          </a:p>
        </p:txBody>
      </p:sp>
      <p:sp>
        <p:nvSpPr>
          <p:cNvPr id="43" name="Google Shape;43;p3"/>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4" name="Google Shape;44;p3"/>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49" name="Shape 49"/>
        <p:cNvGrpSpPr/>
        <p:nvPr/>
      </p:nvGrpSpPr>
      <p:grpSpPr>
        <a:xfrm>
          <a:off x="0" y="0"/>
          <a:ext cx="0" cy="0"/>
          <a:chOff x="0" y="0"/>
          <a:chExt cx="0" cy="0"/>
        </a:xfrm>
      </p:grpSpPr>
      <p:pic>
        <p:nvPicPr>
          <p:cNvPr descr="/mnt/data/rendered_submission_ppt/slide-4.png" id="50" name="Google Shape;50;p4"/>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51" name="Google Shape;51;p4"/>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 name="Google Shape;52;p4"/>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53" name="Google Shape;53;p4"/>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4</a:t>
            </a:r>
            <a:endParaRPr/>
          </a:p>
        </p:txBody>
      </p:sp>
      <p:sp>
        <p:nvSpPr>
          <p:cNvPr id="54" name="Google Shape;54;p4"/>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5" name="Google Shape;55;p4"/>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60" name="Shape 60"/>
        <p:cNvGrpSpPr/>
        <p:nvPr/>
      </p:nvGrpSpPr>
      <p:grpSpPr>
        <a:xfrm>
          <a:off x="0" y="0"/>
          <a:ext cx="0" cy="0"/>
          <a:chOff x="0" y="0"/>
          <a:chExt cx="0" cy="0"/>
        </a:xfrm>
      </p:grpSpPr>
      <p:pic>
        <p:nvPicPr>
          <p:cNvPr descr="/mnt/data/rendered_submission_ppt/slide-5.png" id="61" name="Google Shape;61;p5"/>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62" name="Google Shape;62;p5"/>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5"/>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64" name="Google Shape;64;p5"/>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5</a:t>
            </a:r>
            <a:endParaRPr/>
          </a:p>
        </p:txBody>
      </p:sp>
      <p:sp>
        <p:nvSpPr>
          <p:cNvPr id="65" name="Google Shape;65;p5"/>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6" name="Google Shape;66;p5"/>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71" name="Shape 71"/>
        <p:cNvGrpSpPr/>
        <p:nvPr/>
      </p:nvGrpSpPr>
      <p:grpSpPr>
        <a:xfrm>
          <a:off x="0" y="0"/>
          <a:ext cx="0" cy="0"/>
          <a:chOff x="0" y="0"/>
          <a:chExt cx="0" cy="0"/>
        </a:xfrm>
      </p:grpSpPr>
      <p:pic>
        <p:nvPicPr>
          <p:cNvPr descr="/mnt/data/rendered_submission_ppt/slide-6.png" id="72" name="Google Shape;72;p6"/>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73" name="Google Shape;73;p6"/>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6"/>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75" name="Google Shape;75;p6"/>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6</a:t>
            </a:r>
            <a:endParaRPr/>
          </a:p>
        </p:txBody>
      </p:sp>
      <p:sp>
        <p:nvSpPr>
          <p:cNvPr id="76" name="Google Shape;76;p6"/>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7" name="Google Shape;77;p6"/>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82" name="Shape 82"/>
        <p:cNvGrpSpPr/>
        <p:nvPr/>
      </p:nvGrpSpPr>
      <p:grpSpPr>
        <a:xfrm>
          <a:off x="0" y="0"/>
          <a:ext cx="0" cy="0"/>
          <a:chOff x="0" y="0"/>
          <a:chExt cx="0" cy="0"/>
        </a:xfrm>
      </p:grpSpPr>
      <p:pic>
        <p:nvPicPr>
          <p:cNvPr descr="/mnt/data/rendered_submission_ppt/slide-7.png" id="83" name="Google Shape;83;p7"/>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84" name="Google Shape;84;p7"/>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7"/>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86" name="Google Shape;86;p7"/>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7</a:t>
            </a:r>
            <a:endParaRPr/>
          </a:p>
        </p:txBody>
      </p:sp>
      <p:sp>
        <p:nvSpPr>
          <p:cNvPr id="87" name="Google Shape;87;p7"/>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8" name="Google Shape;88;p7"/>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
        <p:nvSpPr>
          <p:cNvPr id="89" name="Google Shape;89;p7"/>
          <p:cNvSpPr/>
          <p:nvPr/>
        </p:nvSpPr>
        <p:spPr>
          <a:xfrm>
            <a:off x="429768" y="6620256"/>
            <a:ext cx="3886200" cy="1188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20"/>
              <a:buFont typeface="Arial"/>
              <a:buNone/>
            </a:pPr>
            <a:r>
              <a:rPr b="1" lang="en-US" sz="720">
                <a:solidFill>
                  <a:srgbClr val="5F6C67"/>
                </a:solidFill>
                <a:latin typeface="Arial"/>
                <a:ea typeface="Arial"/>
                <a:cs typeface="Arial"/>
                <a:sym typeface="Arial"/>
              </a:rPr>
              <a:t>STATUS KEY — green status = established/verified only when labeled</a:t>
            </a:r>
            <a:endParaRPr sz="720">
              <a:solidFill>
                <a:schemeClr val="dk1"/>
              </a:solidFill>
              <a:latin typeface="Arial"/>
              <a:ea typeface="Arial"/>
              <a:cs typeface="Arial"/>
              <a:sym typeface="Arial"/>
            </a:endParaRPr>
          </a:p>
        </p:txBody>
      </p:sp>
      <p:sp>
        <p:nvSpPr>
          <p:cNvPr id="90" name="Google Shape;90;p7"/>
          <p:cNvSpPr/>
          <p:nvPr/>
        </p:nvSpPr>
        <p:spPr>
          <a:xfrm>
            <a:off x="4480560" y="6620256"/>
            <a:ext cx="64008" cy="64008"/>
          </a:xfrm>
          <a:prstGeom prst="ellipse">
            <a:avLst/>
          </a:prstGeom>
          <a:solidFill>
            <a:srgbClr val="0E6B4A"/>
          </a:solidFill>
          <a:ln cap="flat" cmpd="sng" w="12700">
            <a:solidFill>
              <a:srgbClr val="0E6B4A">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7"/>
          <p:cNvSpPr/>
          <p:nvPr/>
        </p:nvSpPr>
        <p:spPr>
          <a:xfrm>
            <a:off x="4590288" y="6583680"/>
            <a:ext cx="91440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Established</a:t>
            </a:r>
            <a:endParaRPr sz="740">
              <a:solidFill>
                <a:schemeClr val="dk1"/>
              </a:solidFill>
              <a:latin typeface="Arial"/>
              <a:ea typeface="Arial"/>
              <a:cs typeface="Arial"/>
              <a:sym typeface="Arial"/>
            </a:endParaRPr>
          </a:p>
        </p:txBody>
      </p:sp>
      <p:sp>
        <p:nvSpPr>
          <p:cNvPr id="92" name="Google Shape;92;p7"/>
          <p:cNvSpPr/>
          <p:nvPr/>
        </p:nvSpPr>
        <p:spPr>
          <a:xfrm>
            <a:off x="5614416" y="6620256"/>
            <a:ext cx="64008" cy="64008"/>
          </a:xfrm>
          <a:prstGeom prst="ellipse">
            <a:avLst/>
          </a:prstGeom>
          <a:solidFill>
            <a:srgbClr val="B57613"/>
          </a:solidFill>
          <a:ln cap="flat" cmpd="sng" w="12700">
            <a:solidFill>
              <a:srgbClr val="B5761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7"/>
          <p:cNvSpPr/>
          <p:nvPr/>
        </p:nvSpPr>
        <p:spPr>
          <a:xfrm>
            <a:off x="5724144" y="6583680"/>
            <a:ext cx="192024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Evidence boundary / needs proof</a:t>
            </a:r>
            <a:endParaRPr sz="740">
              <a:solidFill>
                <a:schemeClr val="dk1"/>
              </a:solidFill>
              <a:latin typeface="Arial"/>
              <a:ea typeface="Arial"/>
              <a:cs typeface="Arial"/>
              <a:sym typeface="Arial"/>
            </a:endParaRPr>
          </a:p>
        </p:txBody>
      </p:sp>
      <p:sp>
        <p:nvSpPr>
          <p:cNvPr id="94" name="Google Shape;94;p7"/>
          <p:cNvSpPr/>
          <p:nvPr/>
        </p:nvSpPr>
        <p:spPr>
          <a:xfrm>
            <a:off x="7845552" y="6620256"/>
            <a:ext cx="64008" cy="64008"/>
          </a:xfrm>
          <a:prstGeom prst="ellipse">
            <a:avLst/>
          </a:prstGeom>
          <a:solidFill>
            <a:srgbClr val="9AA3A0"/>
          </a:solidFill>
          <a:ln cap="flat" cmpd="sng" w="12700">
            <a:solidFill>
              <a:srgbClr val="9AA3A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 name="Google Shape;95;p7"/>
          <p:cNvSpPr/>
          <p:nvPr/>
        </p:nvSpPr>
        <p:spPr>
          <a:xfrm>
            <a:off x="7955280" y="6583680"/>
            <a:ext cx="164592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Context / not assessed</a:t>
            </a:r>
            <a:endParaRPr sz="74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100" name="Shape 100"/>
        <p:cNvGrpSpPr/>
        <p:nvPr/>
      </p:nvGrpSpPr>
      <p:grpSpPr>
        <a:xfrm>
          <a:off x="0" y="0"/>
          <a:ext cx="0" cy="0"/>
          <a:chOff x="0" y="0"/>
          <a:chExt cx="0" cy="0"/>
        </a:xfrm>
      </p:grpSpPr>
      <p:pic>
        <p:nvPicPr>
          <p:cNvPr descr="/mnt/data/rendered_submission_ppt/slide-8.png" id="101" name="Google Shape;101;p8"/>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02" name="Google Shape;102;p8"/>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8"/>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104" name="Google Shape;104;p8"/>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8</a:t>
            </a:r>
            <a:endParaRPr/>
          </a:p>
        </p:txBody>
      </p:sp>
      <p:sp>
        <p:nvSpPr>
          <p:cNvPr id="105" name="Google Shape;105;p8"/>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6" name="Google Shape;106;p8"/>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111" name="Shape 111"/>
        <p:cNvGrpSpPr/>
        <p:nvPr/>
      </p:nvGrpSpPr>
      <p:grpSpPr>
        <a:xfrm>
          <a:off x="0" y="0"/>
          <a:ext cx="0" cy="0"/>
          <a:chOff x="0" y="0"/>
          <a:chExt cx="0" cy="0"/>
        </a:xfrm>
      </p:grpSpPr>
      <p:pic>
        <p:nvPicPr>
          <p:cNvPr descr="/mnt/data/rendered_submission_ppt/slide-9.png" id="112" name="Google Shape;112;p9"/>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13" name="Google Shape;113;p9"/>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 name="Google Shape;114;p9"/>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115" name="Google Shape;115;p9"/>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9</a:t>
            </a:r>
            <a:endParaRPr/>
          </a:p>
        </p:txBody>
      </p:sp>
      <p:sp>
        <p:nvSpPr>
          <p:cNvPr id="116" name="Google Shape;116;p9"/>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7" name="Google Shape;117;p9"/>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122" name="Shape 122"/>
        <p:cNvGrpSpPr/>
        <p:nvPr/>
      </p:nvGrpSpPr>
      <p:grpSpPr>
        <a:xfrm>
          <a:off x="0" y="0"/>
          <a:ext cx="0" cy="0"/>
          <a:chOff x="0" y="0"/>
          <a:chExt cx="0" cy="0"/>
        </a:xfrm>
      </p:grpSpPr>
      <p:pic>
        <p:nvPicPr>
          <p:cNvPr descr="/mnt/data/rendered_submission_ppt/slide-10.png" id="123" name="Google Shape;123;p10"/>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24" name="Google Shape;124;p10"/>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10"/>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126" name="Google Shape;126;p10"/>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10</a:t>
            </a:r>
            <a:endParaRPr/>
          </a:p>
        </p:txBody>
      </p:sp>
      <p:sp>
        <p:nvSpPr>
          <p:cNvPr id="127" name="Google Shape;127;p10"/>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28" name="Google Shape;128;p10"/>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
        <p:nvSpPr>
          <p:cNvPr id="129" name="Google Shape;129;p10"/>
          <p:cNvSpPr/>
          <p:nvPr/>
        </p:nvSpPr>
        <p:spPr>
          <a:xfrm>
            <a:off x="429768" y="6620256"/>
            <a:ext cx="3886200" cy="1188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20"/>
              <a:buFont typeface="Arial"/>
              <a:buNone/>
            </a:pPr>
            <a:r>
              <a:rPr b="1" lang="en-US" sz="720">
                <a:solidFill>
                  <a:srgbClr val="5F6C67"/>
                </a:solidFill>
                <a:latin typeface="Arial"/>
                <a:ea typeface="Arial"/>
                <a:cs typeface="Arial"/>
                <a:sym typeface="Arial"/>
              </a:rPr>
              <a:t>STATUS KEY — green status = established/verified only when labeled</a:t>
            </a:r>
            <a:endParaRPr sz="720">
              <a:solidFill>
                <a:schemeClr val="dk1"/>
              </a:solidFill>
              <a:latin typeface="Arial"/>
              <a:ea typeface="Arial"/>
              <a:cs typeface="Arial"/>
              <a:sym typeface="Arial"/>
            </a:endParaRPr>
          </a:p>
        </p:txBody>
      </p:sp>
      <p:sp>
        <p:nvSpPr>
          <p:cNvPr id="130" name="Google Shape;130;p10"/>
          <p:cNvSpPr/>
          <p:nvPr/>
        </p:nvSpPr>
        <p:spPr>
          <a:xfrm>
            <a:off x="4480560" y="6620256"/>
            <a:ext cx="64008" cy="64008"/>
          </a:xfrm>
          <a:prstGeom prst="ellipse">
            <a:avLst/>
          </a:prstGeom>
          <a:solidFill>
            <a:srgbClr val="0E6B4A"/>
          </a:solidFill>
          <a:ln cap="flat" cmpd="sng" w="12700">
            <a:solidFill>
              <a:srgbClr val="0E6B4A">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10"/>
          <p:cNvSpPr/>
          <p:nvPr/>
        </p:nvSpPr>
        <p:spPr>
          <a:xfrm>
            <a:off x="4590288" y="6583680"/>
            <a:ext cx="91440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Established</a:t>
            </a:r>
            <a:endParaRPr sz="740">
              <a:solidFill>
                <a:schemeClr val="dk1"/>
              </a:solidFill>
              <a:latin typeface="Arial"/>
              <a:ea typeface="Arial"/>
              <a:cs typeface="Arial"/>
              <a:sym typeface="Arial"/>
            </a:endParaRPr>
          </a:p>
        </p:txBody>
      </p:sp>
      <p:sp>
        <p:nvSpPr>
          <p:cNvPr id="132" name="Google Shape;132;p10"/>
          <p:cNvSpPr/>
          <p:nvPr/>
        </p:nvSpPr>
        <p:spPr>
          <a:xfrm>
            <a:off x="5614416" y="6620256"/>
            <a:ext cx="64008" cy="64008"/>
          </a:xfrm>
          <a:prstGeom prst="ellipse">
            <a:avLst/>
          </a:prstGeom>
          <a:solidFill>
            <a:srgbClr val="B57613"/>
          </a:solidFill>
          <a:ln cap="flat" cmpd="sng" w="12700">
            <a:solidFill>
              <a:srgbClr val="B5761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10"/>
          <p:cNvSpPr/>
          <p:nvPr/>
        </p:nvSpPr>
        <p:spPr>
          <a:xfrm>
            <a:off x="5724144" y="6583680"/>
            <a:ext cx="192024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Evidence boundary / needs proof</a:t>
            </a:r>
            <a:endParaRPr sz="740">
              <a:solidFill>
                <a:schemeClr val="dk1"/>
              </a:solidFill>
              <a:latin typeface="Arial"/>
              <a:ea typeface="Arial"/>
              <a:cs typeface="Arial"/>
              <a:sym typeface="Arial"/>
            </a:endParaRPr>
          </a:p>
        </p:txBody>
      </p:sp>
      <p:sp>
        <p:nvSpPr>
          <p:cNvPr id="134" name="Google Shape;134;p10"/>
          <p:cNvSpPr/>
          <p:nvPr/>
        </p:nvSpPr>
        <p:spPr>
          <a:xfrm>
            <a:off x="7845552" y="6620256"/>
            <a:ext cx="64008" cy="64008"/>
          </a:xfrm>
          <a:prstGeom prst="ellipse">
            <a:avLst/>
          </a:prstGeom>
          <a:solidFill>
            <a:srgbClr val="9AA3A0"/>
          </a:solidFill>
          <a:ln cap="flat" cmpd="sng" w="12700">
            <a:solidFill>
              <a:srgbClr val="9AA3A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 name="Google Shape;135;p10"/>
          <p:cNvSpPr/>
          <p:nvPr/>
        </p:nvSpPr>
        <p:spPr>
          <a:xfrm>
            <a:off x="7955280" y="6583680"/>
            <a:ext cx="164592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Context / not assessed</a:t>
            </a:r>
            <a:endParaRPr sz="74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140" name="Shape 140"/>
        <p:cNvGrpSpPr/>
        <p:nvPr/>
      </p:nvGrpSpPr>
      <p:grpSpPr>
        <a:xfrm>
          <a:off x="0" y="0"/>
          <a:ext cx="0" cy="0"/>
          <a:chOff x="0" y="0"/>
          <a:chExt cx="0" cy="0"/>
        </a:xfrm>
      </p:grpSpPr>
      <p:pic>
        <p:nvPicPr>
          <p:cNvPr descr="/mnt/data/rendered_submission_ppt/slide-11.png" id="141" name="Google Shape;141;p11"/>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42" name="Google Shape;142;p11"/>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 name="Google Shape;143;p11"/>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144" name="Google Shape;144;p11"/>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11</a:t>
            </a:r>
            <a:endParaRPr/>
          </a:p>
        </p:txBody>
      </p:sp>
      <p:sp>
        <p:nvSpPr>
          <p:cNvPr id="145" name="Google Shape;145;p11"/>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46" name="Google Shape;146;p11"/>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
        <p:nvSpPr>
          <p:cNvPr id="147" name="Google Shape;147;p11"/>
          <p:cNvSpPr/>
          <p:nvPr/>
        </p:nvSpPr>
        <p:spPr>
          <a:xfrm>
            <a:off x="429768" y="6620256"/>
            <a:ext cx="3886200" cy="1188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20"/>
              <a:buFont typeface="Arial"/>
              <a:buNone/>
            </a:pPr>
            <a:r>
              <a:rPr b="1" lang="en-US" sz="720">
                <a:solidFill>
                  <a:srgbClr val="5F6C67"/>
                </a:solidFill>
                <a:latin typeface="Arial"/>
                <a:ea typeface="Arial"/>
                <a:cs typeface="Arial"/>
                <a:sym typeface="Arial"/>
              </a:rPr>
              <a:t>STATUS KEY — green status = established/verified only when labeled</a:t>
            </a:r>
            <a:endParaRPr sz="720">
              <a:solidFill>
                <a:schemeClr val="dk1"/>
              </a:solidFill>
              <a:latin typeface="Arial"/>
              <a:ea typeface="Arial"/>
              <a:cs typeface="Arial"/>
              <a:sym typeface="Arial"/>
            </a:endParaRPr>
          </a:p>
        </p:txBody>
      </p:sp>
      <p:sp>
        <p:nvSpPr>
          <p:cNvPr id="148" name="Google Shape;148;p11"/>
          <p:cNvSpPr/>
          <p:nvPr/>
        </p:nvSpPr>
        <p:spPr>
          <a:xfrm>
            <a:off x="4480560" y="6620256"/>
            <a:ext cx="64008" cy="64008"/>
          </a:xfrm>
          <a:prstGeom prst="ellipse">
            <a:avLst/>
          </a:prstGeom>
          <a:solidFill>
            <a:srgbClr val="0E6B4A"/>
          </a:solidFill>
          <a:ln cap="flat" cmpd="sng" w="12700">
            <a:solidFill>
              <a:srgbClr val="0E6B4A">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11"/>
          <p:cNvSpPr/>
          <p:nvPr/>
        </p:nvSpPr>
        <p:spPr>
          <a:xfrm>
            <a:off x="4590288" y="6583680"/>
            <a:ext cx="91440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Established</a:t>
            </a:r>
            <a:endParaRPr sz="740">
              <a:solidFill>
                <a:schemeClr val="dk1"/>
              </a:solidFill>
              <a:latin typeface="Arial"/>
              <a:ea typeface="Arial"/>
              <a:cs typeface="Arial"/>
              <a:sym typeface="Arial"/>
            </a:endParaRPr>
          </a:p>
        </p:txBody>
      </p:sp>
      <p:sp>
        <p:nvSpPr>
          <p:cNvPr id="150" name="Google Shape;150;p11"/>
          <p:cNvSpPr/>
          <p:nvPr/>
        </p:nvSpPr>
        <p:spPr>
          <a:xfrm>
            <a:off x="5614416" y="6620256"/>
            <a:ext cx="64008" cy="64008"/>
          </a:xfrm>
          <a:prstGeom prst="ellipse">
            <a:avLst/>
          </a:prstGeom>
          <a:solidFill>
            <a:srgbClr val="B57613"/>
          </a:solidFill>
          <a:ln cap="flat" cmpd="sng" w="12700">
            <a:solidFill>
              <a:srgbClr val="B5761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11"/>
          <p:cNvSpPr/>
          <p:nvPr/>
        </p:nvSpPr>
        <p:spPr>
          <a:xfrm>
            <a:off x="5724144" y="6583680"/>
            <a:ext cx="192024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Evidence boundary / needs proof</a:t>
            </a:r>
            <a:endParaRPr sz="740">
              <a:solidFill>
                <a:schemeClr val="dk1"/>
              </a:solidFill>
              <a:latin typeface="Arial"/>
              <a:ea typeface="Arial"/>
              <a:cs typeface="Arial"/>
              <a:sym typeface="Arial"/>
            </a:endParaRPr>
          </a:p>
        </p:txBody>
      </p:sp>
      <p:sp>
        <p:nvSpPr>
          <p:cNvPr id="152" name="Google Shape;152;p11"/>
          <p:cNvSpPr/>
          <p:nvPr/>
        </p:nvSpPr>
        <p:spPr>
          <a:xfrm>
            <a:off x="7845552" y="6620256"/>
            <a:ext cx="64008" cy="64008"/>
          </a:xfrm>
          <a:prstGeom prst="ellipse">
            <a:avLst/>
          </a:prstGeom>
          <a:solidFill>
            <a:srgbClr val="9AA3A0"/>
          </a:solidFill>
          <a:ln cap="flat" cmpd="sng" w="12700">
            <a:solidFill>
              <a:srgbClr val="9AA3A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 name="Google Shape;153;p11"/>
          <p:cNvSpPr/>
          <p:nvPr/>
        </p:nvSpPr>
        <p:spPr>
          <a:xfrm>
            <a:off x="7955280" y="6583680"/>
            <a:ext cx="164592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Context / not assessed</a:t>
            </a:r>
            <a:endParaRPr sz="74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158" name="Shape 158"/>
        <p:cNvGrpSpPr/>
        <p:nvPr/>
      </p:nvGrpSpPr>
      <p:grpSpPr>
        <a:xfrm>
          <a:off x="0" y="0"/>
          <a:ext cx="0" cy="0"/>
          <a:chOff x="0" y="0"/>
          <a:chExt cx="0" cy="0"/>
        </a:xfrm>
      </p:grpSpPr>
      <p:pic>
        <p:nvPicPr>
          <p:cNvPr descr="/mnt/data/rendered_submission_ppt/slide-12.png" id="159" name="Google Shape;159;p12"/>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60" name="Google Shape;160;p12"/>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12"/>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162" name="Google Shape;162;p12"/>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12</a:t>
            </a:r>
            <a:endParaRPr/>
          </a:p>
        </p:txBody>
      </p:sp>
      <p:sp>
        <p:nvSpPr>
          <p:cNvPr id="163" name="Google Shape;163;p12"/>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64" name="Google Shape;164;p12"/>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
        <p:nvSpPr>
          <p:cNvPr id="165" name="Google Shape;165;p12"/>
          <p:cNvSpPr/>
          <p:nvPr/>
        </p:nvSpPr>
        <p:spPr>
          <a:xfrm>
            <a:off x="429768" y="6620256"/>
            <a:ext cx="3886200" cy="11887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20"/>
              <a:buFont typeface="Arial"/>
              <a:buNone/>
            </a:pPr>
            <a:r>
              <a:rPr b="1" lang="en-US" sz="720">
                <a:solidFill>
                  <a:srgbClr val="5F6C67"/>
                </a:solidFill>
                <a:latin typeface="Arial"/>
                <a:ea typeface="Arial"/>
                <a:cs typeface="Arial"/>
                <a:sym typeface="Arial"/>
              </a:rPr>
              <a:t>STATUS KEY — green status = established/verified only when labeled</a:t>
            </a:r>
            <a:endParaRPr sz="720">
              <a:solidFill>
                <a:schemeClr val="dk1"/>
              </a:solidFill>
              <a:latin typeface="Arial"/>
              <a:ea typeface="Arial"/>
              <a:cs typeface="Arial"/>
              <a:sym typeface="Arial"/>
            </a:endParaRPr>
          </a:p>
        </p:txBody>
      </p:sp>
      <p:sp>
        <p:nvSpPr>
          <p:cNvPr id="166" name="Google Shape;166;p12"/>
          <p:cNvSpPr/>
          <p:nvPr/>
        </p:nvSpPr>
        <p:spPr>
          <a:xfrm>
            <a:off x="4480560" y="6620256"/>
            <a:ext cx="64008" cy="64008"/>
          </a:xfrm>
          <a:prstGeom prst="ellipse">
            <a:avLst/>
          </a:prstGeom>
          <a:solidFill>
            <a:srgbClr val="0E6B4A"/>
          </a:solidFill>
          <a:ln cap="flat" cmpd="sng" w="12700">
            <a:solidFill>
              <a:srgbClr val="0E6B4A">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12"/>
          <p:cNvSpPr/>
          <p:nvPr/>
        </p:nvSpPr>
        <p:spPr>
          <a:xfrm>
            <a:off x="4590288" y="6583680"/>
            <a:ext cx="91440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Established</a:t>
            </a:r>
            <a:endParaRPr sz="740">
              <a:solidFill>
                <a:schemeClr val="dk1"/>
              </a:solidFill>
              <a:latin typeface="Arial"/>
              <a:ea typeface="Arial"/>
              <a:cs typeface="Arial"/>
              <a:sym typeface="Arial"/>
            </a:endParaRPr>
          </a:p>
        </p:txBody>
      </p:sp>
      <p:sp>
        <p:nvSpPr>
          <p:cNvPr id="168" name="Google Shape;168;p12"/>
          <p:cNvSpPr/>
          <p:nvPr/>
        </p:nvSpPr>
        <p:spPr>
          <a:xfrm>
            <a:off x="5614416" y="6620256"/>
            <a:ext cx="64008" cy="64008"/>
          </a:xfrm>
          <a:prstGeom prst="ellipse">
            <a:avLst/>
          </a:prstGeom>
          <a:solidFill>
            <a:srgbClr val="B57613"/>
          </a:solidFill>
          <a:ln cap="flat" cmpd="sng" w="12700">
            <a:solidFill>
              <a:srgbClr val="B5761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 name="Google Shape;169;p12"/>
          <p:cNvSpPr/>
          <p:nvPr/>
        </p:nvSpPr>
        <p:spPr>
          <a:xfrm>
            <a:off x="5724144" y="6583680"/>
            <a:ext cx="192024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Evidence boundary / needs proof</a:t>
            </a:r>
            <a:endParaRPr sz="740">
              <a:solidFill>
                <a:schemeClr val="dk1"/>
              </a:solidFill>
              <a:latin typeface="Arial"/>
              <a:ea typeface="Arial"/>
              <a:cs typeface="Arial"/>
              <a:sym typeface="Arial"/>
            </a:endParaRPr>
          </a:p>
        </p:txBody>
      </p:sp>
      <p:sp>
        <p:nvSpPr>
          <p:cNvPr id="170" name="Google Shape;170;p12"/>
          <p:cNvSpPr/>
          <p:nvPr/>
        </p:nvSpPr>
        <p:spPr>
          <a:xfrm>
            <a:off x="7845552" y="6620256"/>
            <a:ext cx="64008" cy="64008"/>
          </a:xfrm>
          <a:prstGeom prst="ellipse">
            <a:avLst/>
          </a:prstGeom>
          <a:solidFill>
            <a:srgbClr val="9AA3A0"/>
          </a:solidFill>
          <a:ln cap="flat" cmpd="sng" w="12700">
            <a:solidFill>
              <a:srgbClr val="9AA3A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12"/>
          <p:cNvSpPr/>
          <p:nvPr/>
        </p:nvSpPr>
        <p:spPr>
          <a:xfrm>
            <a:off x="7955280" y="6583680"/>
            <a:ext cx="1645920" cy="1371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740"/>
              <a:buFont typeface="Arial"/>
              <a:buNone/>
            </a:pPr>
            <a:r>
              <a:rPr lang="en-US" sz="740">
                <a:solidFill>
                  <a:srgbClr val="5F6C67"/>
                </a:solidFill>
                <a:latin typeface="Arial"/>
                <a:ea typeface="Arial"/>
                <a:cs typeface="Arial"/>
                <a:sym typeface="Arial"/>
              </a:rPr>
              <a:t>Context / not assessed</a:t>
            </a:r>
            <a:endParaRPr sz="74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176" name="Shape 176"/>
        <p:cNvGrpSpPr/>
        <p:nvPr/>
      </p:nvGrpSpPr>
      <p:grpSpPr>
        <a:xfrm>
          <a:off x="0" y="0"/>
          <a:ext cx="0" cy="0"/>
          <a:chOff x="0" y="0"/>
          <a:chExt cx="0" cy="0"/>
        </a:xfrm>
      </p:grpSpPr>
      <p:pic>
        <p:nvPicPr>
          <p:cNvPr descr="/mnt/data/rendered_submission_ppt/slide-13.png" id="177" name="Google Shape;177;p13"/>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78" name="Google Shape;178;p13"/>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13"/>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180" name="Google Shape;180;p13"/>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13</a:t>
            </a:r>
            <a:endParaRPr/>
          </a:p>
        </p:txBody>
      </p:sp>
      <p:sp>
        <p:nvSpPr>
          <p:cNvPr id="181" name="Google Shape;181;p13"/>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82" name="Google Shape;182;p13"/>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187" name="Shape 187"/>
        <p:cNvGrpSpPr/>
        <p:nvPr/>
      </p:nvGrpSpPr>
      <p:grpSpPr>
        <a:xfrm>
          <a:off x="0" y="0"/>
          <a:ext cx="0" cy="0"/>
          <a:chOff x="0" y="0"/>
          <a:chExt cx="0" cy="0"/>
        </a:xfrm>
      </p:grpSpPr>
      <p:pic>
        <p:nvPicPr>
          <p:cNvPr descr="/mnt/data/rendered_submission_ppt/slide-14.png" id="188" name="Google Shape;188;p14"/>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89" name="Google Shape;189;p14"/>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 name="Google Shape;190;p14"/>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191" name="Google Shape;191;p14"/>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14</a:t>
            </a:r>
            <a:endParaRPr/>
          </a:p>
        </p:txBody>
      </p:sp>
      <p:sp>
        <p:nvSpPr>
          <p:cNvPr id="192" name="Google Shape;192;p14"/>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93" name="Google Shape;193;p14"/>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198" name="Shape 198"/>
        <p:cNvGrpSpPr/>
        <p:nvPr/>
      </p:nvGrpSpPr>
      <p:grpSpPr>
        <a:xfrm>
          <a:off x="0" y="0"/>
          <a:ext cx="0" cy="0"/>
          <a:chOff x="0" y="0"/>
          <a:chExt cx="0" cy="0"/>
        </a:xfrm>
      </p:grpSpPr>
      <p:pic>
        <p:nvPicPr>
          <p:cNvPr descr="/mnt/data/rendered_submission_ppt/slide-15.png" id="199" name="Google Shape;199;p15"/>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00" name="Google Shape;200;p15"/>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 name="Google Shape;201;p15"/>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202" name="Google Shape;202;p15"/>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15</a:t>
            </a:r>
            <a:endParaRPr/>
          </a:p>
        </p:txBody>
      </p:sp>
      <p:sp>
        <p:nvSpPr>
          <p:cNvPr id="203" name="Google Shape;203;p15"/>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4" name="Google Shape;204;p15"/>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209" name="Shape 209"/>
        <p:cNvGrpSpPr/>
        <p:nvPr/>
      </p:nvGrpSpPr>
      <p:grpSpPr>
        <a:xfrm>
          <a:off x="0" y="0"/>
          <a:ext cx="0" cy="0"/>
          <a:chOff x="0" y="0"/>
          <a:chExt cx="0" cy="0"/>
        </a:xfrm>
      </p:grpSpPr>
      <p:pic>
        <p:nvPicPr>
          <p:cNvPr descr="/mnt/data/rendered_submission_ppt/slide-16.png" id="210" name="Google Shape;210;p16"/>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11" name="Google Shape;211;p16"/>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16"/>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213" name="Google Shape;213;p16"/>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16</a:t>
            </a:r>
            <a:endParaRPr/>
          </a:p>
        </p:txBody>
      </p:sp>
      <p:sp>
        <p:nvSpPr>
          <p:cNvPr id="214" name="Google Shape;214;p16"/>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15" name="Google Shape;215;p16"/>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220" name="Shape 220"/>
        <p:cNvGrpSpPr/>
        <p:nvPr/>
      </p:nvGrpSpPr>
      <p:grpSpPr>
        <a:xfrm>
          <a:off x="0" y="0"/>
          <a:ext cx="0" cy="0"/>
          <a:chOff x="0" y="0"/>
          <a:chExt cx="0" cy="0"/>
        </a:xfrm>
      </p:grpSpPr>
      <p:sp>
        <p:nvSpPr>
          <p:cNvPr id="221" name="Google Shape;221;p17"/>
          <p:cNvSpPr/>
          <p:nvPr/>
        </p:nvSpPr>
        <p:spPr>
          <a:xfrm>
            <a:off x="0" y="0"/>
            <a:ext cx="12191695" cy="6858000"/>
          </a:xfrm>
          <a:prstGeom prst="rect">
            <a:avLst/>
          </a:prstGeom>
          <a:solidFill>
            <a:srgbClr val="F7FA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17"/>
          <p:cNvSpPr/>
          <p:nvPr/>
        </p:nvSpPr>
        <p:spPr>
          <a:xfrm>
            <a:off x="0" y="0"/>
            <a:ext cx="12191695" cy="329184"/>
          </a:xfrm>
          <a:prstGeom prst="rect">
            <a:avLst/>
          </a:prstGeom>
          <a:solidFill>
            <a:srgbClr val="F7FA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17"/>
          <p:cNvSpPr txBox="1"/>
          <p:nvPr/>
        </p:nvSpPr>
        <p:spPr>
          <a:xfrm>
            <a:off x="210312" y="73152"/>
            <a:ext cx="4937760" cy="20116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919">
                <a:solidFill>
                  <a:srgbClr val="5D6F67"/>
                </a:solidFill>
                <a:latin typeface="Arial"/>
                <a:ea typeface="Arial"/>
                <a:cs typeface="Arial"/>
                <a:sym typeface="Arial"/>
              </a:rPr>
              <a:t>HAIEC · AI Action Path Assurance · MunichTech EXPO 2026</a:t>
            </a:r>
            <a:endParaRPr/>
          </a:p>
        </p:txBody>
      </p:sp>
      <p:sp>
        <p:nvSpPr>
          <p:cNvPr id="224" name="Google Shape;224;p17"/>
          <p:cNvSpPr txBox="1"/>
          <p:nvPr/>
        </p:nvSpPr>
        <p:spPr>
          <a:xfrm>
            <a:off x="11658600" y="73152"/>
            <a:ext cx="320040" cy="201168"/>
          </a:xfrm>
          <a:prstGeom prst="rect">
            <a:avLst/>
          </a:prstGeom>
          <a:noFill/>
          <a:ln>
            <a:noFill/>
          </a:ln>
        </p:spPr>
        <p:txBody>
          <a:bodyPr anchorCtr="0" anchor="t" bIns="18275" lIns="45700" spcFirstLastPara="1" rIns="45700" wrap="square" tIns="18275">
            <a:sp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17</a:t>
            </a:r>
            <a:endParaRPr/>
          </a:p>
        </p:txBody>
      </p:sp>
      <p:sp>
        <p:nvSpPr>
          <p:cNvPr id="225" name="Google Shape;225;p17"/>
          <p:cNvSpPr/>
          <p:nvPr/>
        </p:nvSpPr>
        <p:spPr>
          <a:xfrm>
            <a:off x="0" y="6473952"/>
            <a:ext cx="12191695" cy="384048"/>
          </a:xfrm>
          <a:prstGeom prst="rect">
            <a:avLst/>
          </a:prstGeom>
          <a:solidFill>
            <a:srgbClr val="F7FA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17"/>
          <p:cNvSpPr/>
          <p:nvPr/>
        </p:nvSpPr>
        <p:spPr>
          <a:xfrm>
            <a:off x="411480" y="6565392"/>
            <a:ext cx="11338560" cy="2743"/>
          </a:xfrm>
          <a:prstGeom prst="rect">
            <a:avLst/>
          </a:prstGeom>
          <a:solidFill>
            <a:srgbClr val="D8E3D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17"/>
          <p:cNvSpPr txBox="1"/>
          <p:nvPr/>
        </p:nvSpPr>
        <p:spPr>
          <a:xfrm>
            <a:off x="502920" y="566928"/>
            <a:ext cx="914400" cy="18288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850">
                <a:solidFill>
                  <a:srgbClr val="007A4D"/>
                </a:solidFill>
                <a:latin typeface="Arial"/>
                <a:ea typeface="Arial"/>
                <a:cs typeface="Arial"/>
                <a:sym typeface="Arial"/>
              </a:rPr>
              <a:t>VERIFY</a:t>
            </a:r>
            <a:endParaRPr/>
          </a:p>
        </p:txBody>
      </p:sp>
      <p:sp>
        <p:nvSpPr>
          <p:cNvPr id="228" name="Google Shape;228;p17"/>
          <p:cNvSpPr txBox="1"/>
          <p:nvPr/>
        </p:nvSpPr>
        <p:spPr>
          <a:xfrm>
            <a:off x="502920" y="786384"/>
            <a:ext cx="8046720" cy="41148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2400">
                <a:solidFill>
                  <a:srgbClr val="10251C"/>
                </a:solidFill>
                <a:latin typeface="Georgia"/>
                <a:ea typeface="Georgia"/>
                <a:cs typeface="Georgia"/>
                <a:sym typeface="Georgia"/>
              </a:rPr>
              <a:t>Follow the claim from story to source in minutes.</a:t>
            </a:r>
            <a:endParaRPr/>
          </a:p>
        </p:txBody>
      </p:sp>
      <p:sp>
        <p:nvSpPr>
          <p:cNvPr id="229" name="Google Shape;229;p17"/>
          <p:cNvSpPr txBox="1"/>
          <p:nvPr/>
        </p:nvSpPr>
        <p:spPr>
          <a:xfrm>
            <a:off x="502920" y="1170432"/>
            <a:ext cx="10698480" cy="32004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1150">
                <a:solidFill>
                  <a:srgbClr val="5D6F67"/>
                </a:solidFill>
                <a:latin typeface="Arial"/>
                <a:ea typeface="Arial"/>
                <a:cs typeface="Arial"/>
                <a:sym typeface="Arial"/>
              </a:rPr>
              <a:t>Start with no-login public evidence. Use the optional workspace only if you want to explore the authenticated product flow.</a:t>
            </a:r>
            <a:endParaRPr/>
          </a:p>
        </p:txBody>
      </p:sp>
      <p:sp>
        <p:nvSpPr>
          <p:cNvPr id="230" name="Google Shape;230;p17"/>
          <p:cNvSpPr/>
          <p:nvPr/>
        </p:nvSpPr>
        <p:spPr>
          <a:xfrm>
            <a:off x="502920" y="1627632"/>
            <a:ext cx="5349240" cy="4315968"/>
          </a:xfrm>
          <a:prstGeom prst="roundRect">
            <a:avLst>
              <a:gd fmla="val 16667" name="adj"/>
            </a:avLst>
          </a:prstGeom>
          <a:solidFill>
            <a:srgbClr val="0D211A"/>
          </a:solidFill>
          <a:ln cap="flat" cmpd="sng" w="12700">
            <a:solidFill>
              <a:srgbClr val="0D211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1" name="Google Shape;231;p17"/>
          <p:cNvSpPr txBox="1"/>
          <p:nvPr/>
        </p:nvSpPr>
        <p:spPr>
          <a:xfrm>
            <a:off x="804672" y="1874519"/>
            <a:ext cx="2286000" cy="20116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900">
                <a:solidFill>
                  <a:srgbClr val="A9F0CE"/>
                </a:solidFill>
                <a:latin typeface="Arial"/>
                <a:ea typeface="Arial"/>
                <a:cs typeface="Arial"/>
                <a:sym typeface="Arial"/>
              </a:rPr>
              <a:t>PUBLIC FLAGSHIP DEMO</a:t>
            </a:r>
            <a:endParaRPr/>
          </a:p>
        </p:txBody>
      </p:sp>
      <p:sp>
        <p:nvSpPr>
          <p:cNvPr id="232" name="Google Shape;232;p17"/>
          <p:cNvSpPr txBox="1"/>
          <p:nvPr/>
        </p:nvSpPr>
        <p:spPr>
          <a:xfrm>
            <a:off x="804672" y="2148840"/>
            <a:ext cx="4114800" cy="38404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2500">
                <a:solidFill>
                  <a:srgbClr val="FFFFFF"/>
                </a:solidFill>
                <a:latin typeface="Georgia"/>
                <a:ea typeface="Georgia"/>
                <a:cs typeface="Georgia"/>
                <a:sym typeface="Georgia"/>
              </a:rPr>
              <a:t>No login required.</a:t>
            </a:r>
            <a:endParaRPr/>
          </a:p>
        </p:txBody>
      </p:sp>
      <p:sp>
        <p:nvSpPr>
          <p:cNvPr id="233" name="Google Shape;233;p17"/>
          <p:cNvSpPr txBox="1"/>
          <p:nvPr/>
        </p:nvSpPr>
        <p:spPr>
          <a:xfrm>
            <a:off x="804672" y="2587752"/>
            <a:ext cx="4526280" cy="32004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1240">
                <a:solidFill>
                  <a:srgbClr val="DCEFE7"/>
                </a:solidFill>
                <a:latin typeface="Arial"/>
                <a:ea typeface="Arial"/>
                <a:cs typeface="Arial"/>
                <a:sym typeface="Arial"/>
              </a:rPr>
              <a:t>Review the frozen Kestrel assurance evidence directly in HAIEC.</a:t>
            </a:r>
            <a:endParaRPr/>
          </a:p>
        </p:txBody>
      </p:sp>
      <p:sp>
        <p:nvSpPr>
          <p:cNvPr id="234" name="Google Shape;234;p17">
            <a:hlinkClick r:id="rId3"/>
          </p:cNvPr>
          <p:cNvSpPr/>
          <p:nvPr/>
        </p:nvSpPr>
        <p:spPr>
          <a:xfrm>
            <a:off x="804672" y="3090672"/>
            <a:ext cx="4480560" cy="475488"/>
          </a:xfrm>
          <a:prstGeom prst="roundRect">
            <a:avLst>
              <a:gd fmla="val 16667" name="adj"/>
            </a:avLst>
          </a:prstGeom>
          <a:solidFill>
            <a:srgbClr val="EAF7F0"/>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17"/>
          <p:cNvSpPr txBox="1"/>
          <p:nvPr/>
        </p:nvSpPr>
        <p:spPr>
          <a:xfrm>
            <a:off x="877824" y="3136391"/>
            <a:ext cx="4334256" cy="402336"/>
          </a:xfrm>
          <a:prstGeom prst="rect">
            <a:avLst/>
          </a:prstGeom>
          <a:noFill/>
          <a:ln>
            <a:noFill/>
          </a:ln>
        </p:spPr>
        <p:txBody>
          <a:bodyPr anchorCtr="0" anchor="ctr" bIns="18275" lIns="45700" spcFirstLastPara="1" rIns="45700" wrap="square" tIns="18275">
            <a:spAutoFit/>
          </a:bodyPr>
          <a:lstStyle/>
          <a:p>
            <a:pPr indent="0" lvl="0" marL="0" marR="0" rtl="0" algn="ctr">
              <a:spcBef>
                <a:spcPts val="0"/>
              </a:spcBef>
              <a:spcAft>
                <a:spcPts val="0"/>
              </a:spcAft>
              <a:buNone/>
            </a:pPr>
            <a:r>
              <a:rPr b="1" lang="en-US" sz="1100">
                <a:solidFill>
                  <a:srgbClr val="007A4D"/>
                </a:solidFill>
                <a:latin typeface="Arial"/>
                <a:ea typeface="Arial"/>
                <a:cs typeface="Arial"/>
                <a:sym typeface="Arial"/>
              </a:rPr>
              <a:t>Open Kestrel Assurance Report</a:t>
            </a:r>
            <a:endParaRPr/>
          </a:p>
        </p:txBody>
      </p:sp>
      <p:sp>
        <p:nvSpPr>
          <p:cNvPr id="236" name="Google Shape;236;p17">
            <a:hlinkClick r:id="rId4"/>
          </p:cNvPr>
          <p:cNvSpPr/>
          <p:nvPr/>
        </p:nvSpPr>
        <p:spPr>
          <a:xfrm>
            <a:off x="804672" y="3730752"/>
            <a:ext cx="4480560" cy="475488"/>
          </a:xfrm>
          <a:prstGeom prst="roundRect">
            <a:avLst>
              <a:gd fmla="val 16667" name="adj"/>
            </a:avLst>
          </a:prstGeom>
          <a:solidFill>
            <a:srgbClr val="EAF7F0"/>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7" name="Google Shape;237;p17"/>
          <p:cNvSpPr txBox="1"/>
          <p:nvPr/>
        </p:nvSpPr>
        <p:spPr>
          <a:xfrm>
            <a:off x="877824" y="3776472"/>
            <a:ext cx="4334256" cy="402336"/>
          </a:xfrm>
          <a:prstGeom prst="rect">
            <a:avLst/>
          </a:prstGeom>
          <a:noFill/>
          <a:ln>
            <a:noFill/>
          </a:ln>
        </p:spPr>
        <p:txBody>
          <a:bodyPr anchorCtr="0" anchor="ctr" bIns="18275" lIns="45700" spcFirstLastPara="1" rIns="45700" wrap="square" tIns="18275">
            <a:spAutoFit/>
          </a:bodyPr>
          <a:lstStyle/>
          <a:p>
            <a:pPr indent="0" lvl="0" marL="0" marR="0" rtl="0" algn="ctr">
              <a:spcBef>
                <a:spcPts val="0"/>
              </a:spcBef>
              <a:spcAft>
                <a:spcPts val="0"/>
              </a:spcAft>
              <a:buNone/>
            </a:pPr>
            <a:r>
              <a:rPr b="1" lang="en-US" sz="1100">
                <a:solidFill>
                  <a:srgbClr val="007A4D"/>
                </a:solidFill>
                <a:latin typeface="Arial"/>
                <a:ea typeface="Arial"/>
                <a:cs typeface="Arial"/>
                <a:sym typeface="Arial"/>
              </a:rPr>
              <a:t>Explore Kestrel System Consequence Map</a:t>
            </a:r>
            <a:endParaRPr/>
          </a:p>
        </p:txBody>
      </p:sp>
      <p:sp>
        <p:nvSpPr>
          <p:cNvPr id="238" name="Google Shape;238;p17"/>
          <p:cNvSpPr/>
          <p:nvPr/>
        </p:nvSpPr>
        <p:spPr>
          <a:xfrm>
            <a:off x="804672" y="4498848"/>
            <a:ext cx="4480560" cy="880000"/>
          </a:xfrm>
          <a:prstGeom prst="roundRect">
            <a:avLst>
              <a:gd fmla="val 16667" name="adj"/>
            </a:avLst>
          </a:prstGeom>
          <a:solidFill>
            <a:srgbClr val="102B22"/>
          </a:solidFill>
          <a:ln cap="flat" cmpd="sng" w="12700">
            <a:solidFill>
              <a:srgbClr val="29514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9" name="Google Shape;239;p17"/>
          <p:cNvSpPr txBox="1"/>
          <p:nvPr/>
        </p:nvSpPr>
        <p:spPr>
          <a:xfrm>
            <a:off x="941832" y="4544560"/>
            <a:ext cx="4114800" cy="175000"/>
          </a:xfrm>
          <a:prstGeom prst="rect">
            <a:avLst/>
          </a:prstGeom>
          <a:noFill/>
          <a:ln>
            <a:noFill/>
          </a:ln>
        </p:spPr>
        <p:txBody>
          <a:bodyPr anchorCtr="0" anchor="t" bIns="25000" lIns="80000" spcFirstLastPara="1" rIns="80000" wrap="square" tIns="25000">
            <a:spAutoFit/>
          </a:bodyPr>
          <a:lstStyle/>
          <a:p>
            <a:pPr indent="0" lvl="0" marL="0" marR="0" rtl="0" algn="l">
              <a:spcBef>
                <a:spcPts val="0"/>
              </a:spcBef>
              <a:spcAft>
                <a:spcPts val="0"/>
              </a:spcAft>
              <a:buNone/>
            </a:pPr>
            <a:r>
              <a:rPr b="1" lang="en-US" sz="1080">
                <a:solidFill>
                  <a:srgbClr val="A4ECCD"/>
                </a:solidFill>
                <a:latin typeface="Arial"/>
                <a:ea typeface="Arial"/>
                <a:cs typeface="Arial"/>
                <a:sym typeface="Arial"/>
              </a:rPr>
              <a:t>What judges should see</a:t>
            </a:r>
            <a:endParaRPr/>
          </a:p>
        </p:txBody>
      </p:sp>
      <p:sp>
        <p:nvSpPr>
          <p:cNvPr id="240" name="Google Shape;240;p17"/>
          <p:cNvSpPr txBox="1"/>
          <p:nvPr/>
        </p:nvSpPr>
        <p:spPr>
          <a:xfrm>
            <a:off x="941832" y="4802000"/>
            <a:ext cx="4069080" cy="520000"/>
          </a:xfrm>
          <a:prstGeom prst="rect">
            <a:avLst/>
          </a:prstGeom>
          <a:noFill/>
          <a:ln>
            <a:noFill/>
          </a:ln>
        </p:spPr>
        <p:txBody>
          <a:bodyPr anchorCtr="0" anchor="t" bIns="22000" lIns="80000" spcFirstLastPara="1" rIns="80000" wrap="square" tIns="22000">
            <a:spAutoFit/>
          </a:bodyPr>
          <a:lstStyle/>
          <a:p>
            <a:pPr indent="0" lvl="0" marL="0" marR="0" rtl="0" algn="l">
              <a:spcBef>
                <a:spcPts val="0"/>
              </a:spcBef>
              <a:spcAft>
                <a:spcPts val="0"/>
              </a:spcAft>
              <a:buNone/>
            </a:pPr>
            <a:r>
              <a:rPr b="0" lang="en-US" sz="1320">
                <a:solidFill>
                  <a:srgbClr val="EBF6F1"/>
                </a:solidFill>
                <a:latin typeface="Arial"/>
                <a:ea typeface="Arial"/>
                <a:cs typeface="Arial"/>
                <a:sym typeface="Arial"/>
              </a:rPr>
              <a:t>Path-level evidence: AI capability → handler → resource/service → consequence → authority/evidence.</a:t>
            </a:r>
            <a:endParaRPr/>
          </a:p>
        </p:txBody>
      </p:sp>
      <p:sp>
        <p:nvSpPr>
          <p:cNvPr id="241" name="Google Shape;241;p17"/>
          <p:cNvSpPr/>
          <p:nvPr/>
        </p:nvSpPr>
        <p:spPr>
          <a:xfrm>
            <a:off x="6108192" y="1627632"/>
            <a:ext cx="5577840" cy="4315968"/>
          </a:xfrm>
          <a:prstGeom prst="roundRect">
            <a:avLst>
              <a:gd fmla="val 16667" name="adj"/>
            </a:avLst>
          </a:prstGeom>
          <a:solidFill>
            <a:srgbClr val="FFFFFF"/>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42" name="Google Shape;242;p17"/>
          <p:cNvSpPr txBox="1"/>
          <p:nvPr/>
        </p:nvSpPr>
        <p:spPr>
          <a:xfrm>
            <a:off x="6400800" y="1883664"/>
            <a:ext cx="4206240" cy="329184"/>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2200">
                <a:solidFill>
                  <a:srgbClr val="10251C"/>
                </a:solidFill>
                <a:latin typeface="Georgia"/>
                <a:ea typeface="Georgia"/>
                <a:cs typeface="Georgia"/>
                <a:sym typeface="Georgia"/>
              </a:rPr>
              <a:t>Judge verification path</a:t>
            </a:r>
            <a:endParaRPr/>
          </a:p>
        </p:txBody>
      </p:sp>
      <p:sp>
        <p:nvSpPr>
          <p:cNvPr id="243" name="Google Shape;243;p17"/>
          <p:cNvSpPr txBox="1"/>
          <p:nvPr/>
        </p:nvSpPr>
        <p:spPr>
          <a:xfrm>
            <a:off x="6419088" y="2221992"/>
            <a:ext cx="4663440" cy="237744"/>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1120">
                <a:solidFill>
                  <a:srgbClr val="596A62"/>
                </a:solidFill>
                <a:latin typeface="Arial"/>
                <a:ea typeface="Arial"/>
                <a:cs typeface="Arial"/>
                <a:sym typeface="Arial"/>
              </a:rPr>
              <a:t>Start with the voiceover/avatar walkthrough, then inspect the live product and evidence package.</a:t>
            </a:r>
            <a:endParaRPr/>
          </a:p>
        </p:txBody>
      </p:sp>
      <p:sp>
        <p:nvSpPr>
          <p:cNvPr id="244" name="Google Shape;244;p17"/>
          <p:cNvSpPr/>
          <p:nvPr/>
        </p:nvSpPr>
        <p:spPr>
          <a:xfrm>
            <a:off x="6400800" y="2596896"/>
            <a:ext cx="4892040" cy="457200"/>
          </a:xfrm>
          <a:prstGeom prst="roundRect">
            <a:avLst>
              <a:gd fmla="val 16667" name="adj"/>
            </a:avLst>
          </a:prstGeom>
          <a:solidFill>
            <a:srgbClr val="F7FBF8"/>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45" name="Google Shape;245;p17"/>
          <p:cNvSpPr txBox="1"/>
          <p:nvPr/>
        </p:nvSpPr>
        <p:spPr>
          <a:xfrm>
            <a:off x="6537960" y="2706624"/>
            <a:ext cx="320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940">
                <a:solidFill>
                  <a:srgbClr val="007A4D"/>
                </a:solidFill>
                <a:latin typeface="Arial"/>
                <a:ea typeface="Arial"/>
                <a:cs typeface="Arial"/>
                <a:sym typeface="Arial"/>
              </a:rPr>
              <a:t>01</a:t>
            </a:r>
            <a:endParaRPr/>
          </a:p>
        </p:txBody>
      </p:sp>
      <p:sp>
        <p:nvSpPr>
          <p:cNvPr id="246" name="Google Shape;246;p17"/>
          <p:cNvSpPr txBox="1"/>
          <p:nvPr/>
        </p:nvSpPr>
        <p:spPr>
          <a:xfrm>
            <a:off x="6931152" y="2670048"/>
            <a:ext cx="137160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200">
                <a:solidFill>
                  <a:srgbClr val="0E261E"/>
                </a:solidFill>
                <a:latin typeface="Arial"/>
                <a:ea typeface="Arial"/>
                <a:cs typeface="Arial"/>
                <a:sym typeface="Arial"/>
              </a:rPr>
              <a:t>Voiceover demo</a:t>
            </a:r>
            <a:endParaRPr/>
          </a:p>
        </p:txBody>
      </p:sp>
      <p:sp>
        <p:nvSpPr>
          <p:cNvPr id="247" name="Google Shape;247;p17"/>
          <p:cNvSpPr txBox="1"/>
          <p:nvPr/>
        </p:nvSpPr>
        <p:spPr>
          <a:xfrm>
            <a:off x="8366760" y="2670048"/>
            <a:ext cx="2606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1050">
                <a:solidFill>
                  <a:srgbClr val="596A62"/>
                </a:solidFill>
                <a:latin typeface="Arial"/>
                <a:ea typeface="Arial"/>
                <a:cs typeface="Arial"/>
                <a:sym typeface="Arial"/>
              </a:rPr>
              <a:t>Watch the narrated judge deck first</a:t>
            </a:r>
            <a:endParaRPr/>
          </a:p>
        </p:txBody>
      </p:sp>
      <p:sp>
        <p:nvSpPr>
          <p:cNvPr id="248" name="Google Shape;248;p17">
            <a:hlinkClick r:id="rId5"/>
          </p:cNvPr>
          <p:cNvSpPr/>
          <p:nvPr/>
        </p:nvSpPr>
        <p:spPr>
          <a:xfrm>
            <a:off x="6400800" y="2596896"/>
            <a:ext cx="489204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49" name="Google Shape;249;p17"/>
          <p:cNvSpPr/>
          <p:nvPr/>
        </p:nvSpPr>
        <p:spPr>
          <a:xfrm>
            <a:off x="6400800" y="3154679"/>
            <a:ext cx="4892040" cy="457200"/>
          </a:xfrm>
          <a:prstGeom prst="roundRect">
            <a:avLst>
              <a:gd fmla="val 16667" name="adj"/>
            </a:avLst>
          </a:prstGeom>
          <a:solidFill>
            <a:srgbClr val="F7FBF8"/>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50" name="Google Shape;250;p17"/>
          <p:cNvSpPr txBox="1"/>
          <p:nvPr/>
        </p:nvSpPr>
        <p:spPr>
          <a:xfrm>
            <a:off x="6537960" y="3264408"/>
            <a:ext cx="320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940">
                <a:solidFill>
                  <a:srgbClr val="007A4D"/>
                </a:solidFill>
                <a:latin typeface="Arial"/>
                <a:ea typeface="Arial"/>
                <a:cs typeface="Arial"/>
                <a:sym typeface="Arial"/>
              </a:rPr>
              <a:t>02</a:t>
            </a:r>
            <a:endParaRPr/>
          </a:p>
        </p:txBody>
      </p:sp>
      <p:sp>
        <p:nvSpPr>
          <p:cNvPr id="251" name="Google Shape;251;p17"/>
          <p:cNvSpPr txBox="1"/>
          <p:nvPr/>
        </p:nvSpPr>
        <p:spPr>
          <a:xfrm>
            <a:off x="6931152" y="3227832"/>
            <a:ext cx="137160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010">
                <a:solidFill>
                  <a:srgbClr val="10251C"/>
                </a:solidFill>
                <a:latin typeface="Arial"/>
                <a:ea typeface="Arial"/>
                <a:cs typeface="Arial"/>
                <a:sym typeface="Arial"/>
              </a:rPr>
              <a:t>Live report</a:t>
            </a:r>
            <a:endParaRPr/>
          </a:p>
        </p:txBody>
      </p:sp>
      <p:sp>
        <p:nvSpPr>
          <p:cNvPr id="252" name="Google Shape;252;p17"/>
          <p:cNvSpPr txBox="1"/>
          <p:nvPr/>
        </p:nvSpPr>
        <p:spPr>
          <a:xfrm>
            <a:off x="8366760" y="3227832"/>
            <a:ext cx="2606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869">
                <a:solidFill>
                  <a:srgbClr val="5D6F67"/>
                </a:solidFill>
                <a:latin typeface="Arial"/>
                <a:ea typeface="Arial"/>
                <a:cs typeface="Arial"/>
                <a:sym typeface="Arial"/>
              </a:rPr>
              <a:t>Open the public Kestrel assurance report</a:t>
            </a:r>
            <a:endParaRPr/>
          </a:p>
        </p:txBody>
      </p:sp>
      <p:sp>
        <p:nvSpPr>
          <p:cNvPr id="253" name="Google Shape;253;p17">
            <a:hlinkClick r:id="rId6"/>
          </p:cNvPr>
          <p:cNvSpPr/>
          <p:nvPr/>
        </p:nvSpPr>
        <p:spPr>
          <a:xfrm>
            <a:off x="6400800" y="3154679"/>
            <a:ext cx="489204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54" name="Google Shape;254;p17"/>
          <p:cNvSpPr/>
          <p:nvPr/>
        </p:nvSpPr>
        <p:spPr>
          <a:xfrm>
            <a:off x="6400800" y="3712463"/>
            <a:ext cx="4892040" cy="457200"/>
          </a:xfrm>
          <a:prstGeom prst="roundRect">
            <a:avLst>
              <a:gd fmla="val 16667" name="adj"/>
            </a:avLst>
          </a:prstGeom>
          <a:solidFill>
            <a:srgbClr val="F7FBF8"/>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55" name="Google Shape;255;p17"/>
          <p:cNvSpPr txBox="1"/>
          <p:nvPr/>
        </p:nvSpPr>
        <p:spPr>
          <a:xfrm>
            <a:off x="6537960" y="3822191"/>
            <a:ext cx="320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940">
                <a:solidFill>
                  <a:srgbClr val="007A4D"/>
                </a:solidFill>
                <a:latin typeface="Arial"/>
                <a:ea typeface="Arial"/>
                <a:cs typeface="Arial"/>
                <a:sym typeface="Arial"/>
              </a:rPr>
              <a:t>03</a:t>
            </a:r>
            <a:endParaRPr/>
          </a:p>
        </p:txBody>
      </p:sp>
      <p:sp>
        <p:nvSpPr>
          <p:cNvPr id="256" name="Google Shape;256;p17"/>
          <p:cNvSpPr txBox="1"/>
          <p:nvPr/>
        </p:nvSpPr>
        <p:spPr>
          <a:xfrm>
            <a:off x="6931152" y="3785615"/>
            <a:ext cx="137160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010">
                <a:solidFill>
                  <a:srgbClr val="10251C"/>
                </a:solidFill>
                <a:latin typeface="Arial"/>
                <a:ea typeface="Arial"/>
                <a:cs typeface="Arial"/>
                <a:sym typeface="Arial"/>
              </a:rPr>
              <a:t>Consequence map</a:t>
            </a:r>
            <a:endParaRPr/>
          </a:p>
        </p:txBody>
      </p:sp>
      <p:sp>
        <p:nvSpPr>
          <p:cNvPr id="257" name="Google Shape;257;p17"/>
          <p:cNvSpPr txBox="1"/>
          <p:nvPr/>
        </p:nvSpPr>
        <p:spPr>
          <a:xfrm>
            <a:off x="8366760" y="3785615"/>
            <a:ext cx="2606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869">
                <a:solidFill>
                  <a:srgbClr val="5D6F67"/>
                </a:solidFill>
                <a:latin typeface="Arial"/>
                <a:ea typeface="Arial"/>
                <a:cs typeface="Arial"/>
                <a:sym typeface="Arial"/>
              </a:rPr>
              <a:t>Explore public action paths and evidence</a:t>
            </a:r>
            <a:endParaRPr/>
          </a:p>
        </p:txBody>
      </p:sp>
      <p:sp>
        <p:nvSpPr>
          <p:cNvPr id="258" name="Google Shape;258;p17">
            <a:hlinkClick r:id="rId7"/>
          </p:cNvPr>
          <p:cNvSpPr/>
          <p:nvPr/>
        </p:nvSpPr>
        <p:spPr>
          <a:xfrm>
            <a:off x="6400800" y="3712463"/>
            <a:ext cx="489204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59" name="Google Shape;259;p17"/>
          <p:cNvSpPr/>
          <p:nvPr/>
        </p:nvSpPr>
        <p:spPr>
          <a:xfrm>
            <a:off x="6400800" y="4270248"/>
            <a:ext cx="4892040" cy="457200"/>
          </a:xfrm>
          <a:prstGeom prst="roundRect">
            <a:avLst>
              <a:gd fmla="val 16667" name="adj"/>
            </a:avLst>
          </a:prstGeom>
          <a:solidFill>
            <a:srgbClr val="F7FBF8"/>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60" name="Google Shape;260;p17"/>
          <p:cNvSpPr txBox="1"/>
          <p:nvPr/>
        </p:nvSpPr>
        <p:spPr>
          <a:xfrm>
            <a:off x="6537960" y="4379976"/>
            <a:ext cx="320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940">
                <a:solidFill>
                  <a:srgbClr val="007A4D"/>
                </a:solidFill>
                <a:latin typeface="Arial"/>
                <a:ea typeface="Arial"/>
                <a:cs typeface="Arial"/>
                <a:sym typeface="Arial"/>
              </a:rPr>
              <a:t>04</a:t>
            </a:r>
            <a:endParaRPr/>
          </a:p>
        </p:txBody>
      </p:sp>
      <p:sp>
        <p:nvSpPr>
          <p:cNvPr id="261" name="Google Shape;261;p17"/>
          <p:cNvSpPr txBox="1"/>
          <p:nvPr/>
        </p:nvSpPr>
        <p:spPr>
          <a:xfrm>
            <a:off x="6931152" y="4343400"/>
            <a:ext cx="137160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010">
                <a:solidFill>
                  <a:srgbClr val="10251C"/>
                </a:solidFill>
                <a:latin typeface="Arial"/>
                <a:ea typeface="Arial"/>
                <a:cs typeface="Arial"/>
                <a:sym typeface="Arial"/>
              </a:rPr>
              <a:t>Evidence guide</a:t>
            </a:r>
            <a:endParaRPr/>
          </a:p>
        </p:txBody>
      </p:sp>
      <p:sp>
        <p:nvSpPr>
          <p:cNvPr id="262" name="Google Shape;262;p17"/>
          <p:cNvSpPr txBox="1"/>
          <p:nvPr/>
        </p:nvSpPr>
        <p:spPr>
          <a:xfrm>
            <a:off x="8366760" y="4343400"/>
            <a:ext cx="2606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869">
                <a:solidFill>
                  <a:srgbClr val="5D6F67"/>
                </a:solidFill>
                <a:latin typeface="Arial"/>
                <a:ea typeface="Arial"/>
                <a:cs typeface="Arial"/>
                <a:sym typeface="Arial"/>
              </a:rPr>
              <a:t>Gold baseline + A/B release evidence</a:t>
            </a:r>
            <a:endParaRPr/>
          </a:p>
        </p:txBody>
      </p:sp>
      <p:sp>
        <p:nvSpPr>
          <p:cNvPr id="263" name="Google Shape;263;p17">
            <a:hlinkClick r:id="rId8"/>
          </p:cNvPr>
          <p:cNvSpPr/>
          <p:nvPr/>
        </p:nvSpPr>
        <p:spPr>
          <a:xfrm>
            <a:off x="6400800" y="4270248"/>
            <a:ext cx="489204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64" name="Google Shape;264;p17"/>
          <p:cNvSpPr/>
          <p:nvPr/>
        </p:nvSpPr>
        <p:spPr>
          <a:xfrm>
            <a:off x="6400800" y="4828032"/>
            <a:ext cx="4892040" cy="457200"/>
          </a:xfrm>
          <a:prstGeom prst="roundRect">
            <a:avLst>
              <a:gd fmla="val 16667" name="adj"/>
            </a:avLst>
          </a:prstGeom>
          <a:solidFill>
            <a:srgbClr val="F7FBF8"/>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65" name="Google Shape;265;p17"/>
          <p:cNvSpPr txBox="1"/>
          <p:nvPr/>
        </p:nvSpPr>
        <p:spPr>
          <a:xfrm>
            <a:off x="6537960" y="4937760"/>
            <a:ext cx="320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940">
                <a:solidFill>
                  <a:srgbClr val="007A4D"/>
                </a:solidFill>
                <a:latin typeface="Arial"/>
                <a:ea typeface="Arial"/>
                <a:cs typeface="Arial"/>
                <a:sym typeface="Arial"/>
              </a:rPr>
              <a:t>05</a:t>
            </a:r>
            <a:endParaRPr/>
          </a:p>
        </p:txBody>
      </p:sp>
      <p:sp>
        <p:nvSpPr>
          <p:cNvPr id="266" name="Google Shape;266;p17"/>
          <p:cNvSpPr txBox="1"/>
          <p:nvPr/>
        </p:nvSpPr>
        <p:spPr>
          <a:xfrm>
            <a:off x="6931152" y="4901184"/>
            <a:ext cx="137160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010">
                <a:solidFill>
                  <a:srgbClr val="10251C"/>
                </a:solidFill>
                <a:latin typeface="Arial"/>
                <a:ea typeface="Arial"/>
                <a:cs typeface="Arial"/>
                <a:sym typeface="Arial"/>
              </a:rPr>
              <a:t>Technical evaluation</a:t>
            </a:r>
            <a:endParaRPr/>
          </a:p>
        </p:txBody>
      </p:sp>
      <p:sp>
        <p:nvSpPr>
          <p:cNvPr id="267" name="Google Shape;267;p17"/>
          <p:cNvSpPr txBox="1"/>
          <p:nvPr/>
        </p:nvSpPr>
        <p:spPr>
          <a:xfrm>
            <a:off x="8366760" y="4901184"/>
            <a:ext cx="2606040" cy="16459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869">
                <a:solidFill>
                  <a:srgbClr val="5D6F67"/>
                </a:solidFill>
                <a:latin typeface="Arial"/>
                <a:ea typeface="Arial"/>
                <a:cs typeface="Arial"/>
                <a:sym typeface="Arial"/>
              </a:rPr>
              <a:t>Review 60-page complete technical deck</a:t>
            </a:r>
            <a:endParaRPr/>
          </a:p>
        </p:txBody>
      </p:sp>
      <p:sp>
        <p:nvSpPr>
          <p:cNvPr id="268" name="Google Shape;268;p17">
            <a:hlinkClick r:id="rId9"/>
          </p:cNvPr>
          <p:cNvSpPr/>
          <p:nvPr/>
        </p:nvSpPr>
        <p:spPr>
          <a:xfrm>
            <a:off x="6400800" y="4828032"/>
            <a:ext cx="489204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69" name="Google Shape;269;p17"/>
          <p:cNvSpPr/>
          <p:nvPr/>
        </p:nvSpPr>
        <p:spPr>
          <a:xfrm>
            <a:off x="6400800" y="5468112"/>
            <a:ext cx="4892040" cy="274320"/>
          </a:xfrm>
          <a:prstGeom prst="roundRect">
            <a:avLst>
              <a:gd fmla="val 16667" name="adj"/>
            </a:avLst>
          </a:prstGeom>
          <a:solidFill>
            <a:srgbClr val="FFF4D2"/>
          </a:solidFill>
          <a:ln cap="flat" cmpd="sng" w="12700">
            <a:solidFill>
              <a:srgbClr val="E6C35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70" name="Google Shape;270;p17"/>
          <p:cNvSpPr txBox="1"/>
          <p:nvPr/>
        </p:nvSpPr>
        <p:spPr>
          <a:xfrm>
            <a:off x="6492240" y="5522976"/>
            <a:ext cx="4663440" cy="146304"/>
          </a:xfrm>
          <a:prstGeom prst="rect">
            <a:avLst/>
          </a:prstGeom>
          <a:noFill/>
          <a:ln>
            <a:noFill/>
          </a:ln>
        </p:spPr>
        <p:txBody>
          <a:bodyPr anchorCtr="0" anchor="ctr" bIns="18275" lIns="45700" spcFirstLastPara="1" rIns="45700" wrap="square" tIns="18275">
            <a:spAutoFit/>
          </a:bodyPr>
          <a:lstStyle/>
          <a:p>
            <a:pPr indent="0" lvl="0" marL="0" marR="0" rtl="0" algn="l">
              <a:spcBef>
                <a:spcPts val="0"/>
              </a:spcBef>
              <a:spcAft>
                <a:spcPts val="0"/>
              </a:spcAft>
              <a:buNone/>
            </a:pPr>
            <a:r>
              <a:rPr b="1" lang="en-US" sz="869">
                <a:solidFill>
                  <a:srgbClr val="10251C"/>
                </a:solidFill>
                <a:latin typeface="Arial"/>
                <a:ea typeface="Arial"/>
                <a:cs typeface="Arial"/>
                <a:sym typeface="Arial"/>
              </a:rPr>
              <a:t>Optional interactive workspace access follows after the Thank You slide.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275" name="Shape 275"/>
        <p:cNvGrpSpPr/>
        <p:nvPr/>
      </p:nvGrpSpPr>
      <p:grpSpPr>
        <a:xfrm>
          <a:off x="0" y="0"/>
          <a:ext cx="0" cy="0"/>
          <a:chOff x="0" y="0"/>
          <a:chExt cx="0" cy="0"/>
        </a:xfrm>
      </p:grpSpPr>
      <p:pic>
        <p:nvPicPr>
          <p:cNvPr descr="/mnt/data/rendered_submission_ppt/slide-18.png" id="276" name="Google Shape;276;p18"/>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77" name="Google Shape;277;p18"/>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 name="Google Shape;278;p18"/>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279" name="Google Shape;279;p18"/>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18</a:t>
            </a:r>
            <a:endParaRPr/>
          </a:p>
        </p:txBody>
      </p:sp>
      <p:sp>
        <p:nvSpPr>
          <p:cNvPr id="280" name="Google Shape;280;p18"/>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81" name="Google Shape;281;p18"/>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286" name="Shape 286"/>
        <p:cNvGrpSpPr/>
        <p:nvPr/>
      </p:nvGrpSpPr>
      <p:grpSpPr>
        <a:xfrm>
          <a:off x="0" y="0"/>
          <a:ext cx="0" cy="0"/>
          <a:chOff x="0" y="0"/>
          <a:chExt cx="0" cy="0"/>
        </a:xfrm>
      </p:grpSpPr>
      <p:sp>
        <p:nvSpPr>
          <p:cNvPr id="287" name="Google Shape;287;p19"/>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8" name="Google Shape;288;p19"/>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289" name="Google Shape;289;p19"/>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19</a:t>
            </a:r>
            <a:endParaRPr/>
          </a:p>
        </p:txBody>
      </p:sp>
      <p:sp>
        <p:nvSpPr>
          <p:cNvPr id="290" name="Google Shape;290;p19"/>
          <p:cNvSpPr/>
          <p:nvPr/>
        </p:nvSpPr>
        <p:spPr>
          <a:xfrm>
            <a:off x="438912" y="804672"/>
            <a:ext cx="5577840" cy="5257800"/>
          </a:xfrm>
          <a:prstGeom prst="roundRect">
            <a:avLst>
              <a:gd fmla="val 2435" name="adj"/>
            </a:avLst>
          </a:prstGeom>
          <a:solidFill>
            <a:srgbClr val="14201C"/>
          </a:solidFill>
          <a:ln cap="flat" cmpd="sng" w="12700">
            <a:solidFill>
              <a:srgbClr val="14201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 name="Google Shape;291;p19"/>
          <p:cNvSpPr/>
          <p:nvPr/>
        </p:nvSpPr>
        <p:spPr>
          <a:xfrm>
            <a:off x="758952" y="1078992"/>
            <a:ext cx="1371600" cy="16459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B7EBD0"/>
              </a:buClr>
              <a:buSzPts val="950"/>
              <a:buFont typeface="Arial"/>
              <a:buNone/>
            </a:pPr>
            <a:r>
              <a:rPr b="1" lang="en-US" sz="950">
                <a:solidFill>
                  <a:srgbClr val="B7EBD0"/>
                </a:solidFill>
                <a:latin typeface="Arial"/>
                <a:ea typeface="Arial"/>
                <a:cs typeface="Arial"/>
                <a:sym typeface="Arial"/>
              </a:rPr>
              <a:t>THANK YOU</a:t>
            </a:r>
            <a:endParaRPr sz="950">
              <a:solidFill>
                <a:schemeClr val="dk1"/>
              </a:solidFill>
              <a:latin typeface="Arial"/>
              <a:ea typeface="Arial"/>
              <a:cs typeface="Arial"/>
              <a:sym typeface="Arial"/>
            </a:endParaRPr>
          </a:p>
        </p:txBody>
      </p:sp>
      <p:sp>
        <p:nvSpPr>
          <p:cNvPr id="292" name="Google Shape;292;p19"/>
          <p:cNvSpPr/>
          <p:nvPr/>
        </p:nvSpPr>
        <p:spPr>
          <a:xfrm>
            <a:off x="749808" y="1417320"/>
            <a:ext cx="4206240" cy="5943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4000"/>
              <a:buFont typeface="Georgia"/>
              <a:buNone/>
            </a:pPr>
            <a:r>
              <a:rPr b="1" lang="en-US" sz="4000">
                <a:solidFill>
                  <a:srgbClr val="FFFFFF"/>
                </a:solidFill>
                <a:latin typeface="Georgia"/>
                <a:ea typeface="Georgia"/>
                <a:cs typeface="Georgia"/>
                <a:sym typeface="Georgia"/>
              </a:rPr>
              <a:t>Thank you.</a:t>
            </a:r>
            <a:endParaRPr sz="4000">
              <a:solidFill>
                <a:schemeClr val="dk1"/>
              </a:solidFill>
              <a:latin typeface="Arial"/>
              <a:ea typeface="Arial"/>
              <a:cs typeface="Arial"/>
              <a:sym typeface="Arial"/>
            </a:endParaRPr>
          </a:p>
        </p:txBody>
      </p:sp>
      <p:sp>
        <p:nvSpPr>
          <p:cNvPr id="293" name="Google Shape;293;p19"/>
          <p:cNvSpPr/>
          <p:nvPr/>
        </p:nvSpPr>
        <p:spPr>
          <a:xfrm>
            <a:off x="768096" y="2075688"/>
            <a:ext cx="4526280" cy="329184"/>
          </a:xfrm>
          <a:prstGeom prst="rect">
            <a:avLst/>
          </a:prstGeom>
          <a:noFill/>
          <a:ln>
            <a:noFill/>
          </a:ln>
        </p:spPr>
        <p:txBody>
          <a:bodyPr anchorCtr="0" anchor="ctr" bIns="18275" lIns="18275" spcFirstLastPara="1" rIns="18275" wrap="square" tIns="18275">
            <a:normAutofit/>
          </a:bodyPr>
          <a:lstStyle/>
          <a:p>
            <a:pPr indent="0" lvl="0" marL="0" marR="0" rtl="0" algn="l">
              <a:spcBef>
                <a:spcPts val="0"/>
              </a:spcBef>
              <a:spcAft>
                <a:spcPts val="0"/>
              </a:spcAft>
              <a:buNone/>
            </a:pPr>
            <a:r>
              <a:rPr lang="en-US" sz="1500">
                <a:solidFill>
                  <a:srgbClr val="E2ECE8"/>
                </a:solidFill>
                <a:latin typeface="Arial"/>
                <a:ea typeface="Arial"/>
                <a:cs typeface="Arial"/>
                <a:sym typeface="Arial"/>
              </a:rPr>
              <a:t>One inspectable question guided the submission:</a:t>
            </a:r>
            <a:endParaRPr/>
          </a:p>
        </p:txBody>
      </p:sp>
      <p:sp>
        <p:nvSpPr>
          <p:cNvPr id="294" name="Google Shape;294;p19"/>
          <p:cNvSpPr/>
          <p:nvPr/>
        </p:nvSpPr>
        <p:spPr>
          <a:xfrm>
            <a:off x="768096" y="2606040"/>
            <a:ext cx="4800600" cy="960120"/>
          </a:xfrm>
          <a:prstGeom prst="rect">
            <a:avLst/>
          </a:prstGeom>
          <a:noFill/>
          <a:ln>
            <a:noFill/>
          </a:ln>
        </p:spPr>
        <p:txBody>
          <a:bodyPr anchorCtr="0" anchor="ctr" bIns="18275" lIns="18275" spcFirstLastPara="1" rIns="18275" wrap="square" tIns="18275">
            <a:normAutofit/>
          </a:bodyPr>
          <a:lstStyle/>
          <a:p>
            <a:pPr indent="0" lvl="0" marL="0" marR="0" rtl="0" algn="l">
              <a:spcBef>
                <a:spcPts val="0"/>
              </a:spcBef>
              <a:spcAft>
                <a:spcPts val="0"/>
              </a:spcAft>
              <a:buNone/>
            </a:pPr>
            <a:r>
              <a:rPr b="1" lang="en-US" sz="2400">
                <a:solidFill>
                  <a:srgbClr val="FFFFFF"/>
                </a:solidFill>
                <a:latin typeface="Georgia"/>
                <a:ea typeface="Georgia"/>
                <a:cs typeface="Georgia"/>
                <a:sym typeface="Georgia"/>
              </a:rPr>
              <a:t>What can this AI actually reach?</a:t>
            </a:r>
            <a:endParaRPr/>
          </a:p>
          <a:p>
            <a:pPr indent="0" lvl="0" marL="0" marR="0" rtl="0" algn="l">
              <a:spcBef>
                <a:spcPts val="0"/>
              </a:spcBef>
              <a:spcAft>
                <a:spcPts val="0"/>
              </a:spcAft>
              <a:buNone/>
            </a:pPr>
            <a:r>
              <a:rPr b="1" lang="en-US" sz="2400">
                <a:solidFill>
                  <a:srgbClr val="FFFFFF"/>
                </a:solidFill>
                <a:latin typeface="Georgia"/>
                <a:ea typeface="Georgia"/>
                <a:cs typeface="Georgia"/>
                <a:sym typeface="Georgia"/>
              </a:rPr>
              <a:t>What can that path cause?</a:t>
            </a:r>
            <a:endParaRPr/>
          </a:p>
        </p:txBody>
      </p:sp>
      <p:sp>
        <p:nvSpPr>
          <p:cNvPr id="295" name="Google Shape;295;p19">
            <a:hlinkClick r:id="rId3"/>
          </p:cNvPr>
          <p:cNvSpPr/>
          <p:nvPr/>
        </p:nvSpPr>
        <p:spPr>
          <a:xfrm>
            <a:off x="768096" y="3886200"/>
            <a:ext cx="4407408" cy="621792"/>
          </a:xfrm>
          <a:prstGeom prst="roundRect">
            <a:avLst>
              <a:gd fmla="val 14706" name="adj"/>
            </a:avLst>
          </a:prstGeom>
          <a:solidFill>
            <a:srgbClr val="E7F3ED"/>
          </a:solidFill>
          <a:ln cap="flat" cmpd="sng" w="12700">
            <a:solidFill>
              <a:srgbClr val="B8DCC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6" name="Google Shape;296;p19">
            <a:hlinkClick r:id="rId4"/>
          </p:cNvPr>
          <p:cNvSpPr/>
          <p:nvPr/>
        </p:nvSpPr>
        <p:spPr>
          <a:xfrm>
            <a:off x="950976" y="4041648"/>
            <a:ext cx="3291840" cy="182880"/>
          </a:xfrm>
          <a:prstGeom prst="rect">
            <a:avLst/>
          </a:prstGeom>
          <a:noFill/>
          <a:ln>
            <a:noFill/>
          </a:ln>
        </p:spPr>
        <p:txBody>
          <a:bodyPr anchorCtr="0" anchor="ctr" bIns="18275" lIns="18275" spcFirstLastPara="1" rIns="18275" wrap="square" tIns="18275">
            <a:normAutofit/>
          </a:bodyPr>
          <a:lstStyle/>
          <a:p>
            <a:pPr indent="0" lvl="0" marL="0" marR="0" rtl="0" algn="l">
              <a:spcBef>
                <a:spcPts val="0"/>
              </a:spcBef>
              <a:spcAft>
                <a:spcPts val="0"/>
              </a:spcAft>
              <a:buNone/>
            </a:pPr>
            <a:r>
              <a:rPr b="1" lang="en-US" sz="1300">
                <a:solidFill>
                  <a:srgbClr val="006944"/>
                </a:solidFill>
                <a:latin typeface="Arial"/>
                <a:ea typeface="Arial"/>
                <a:cs typeface="Arial"/>
                <a:sym typeface="Arial"/>
              </a:rPr>
              <a:t>Watch the 2–3 minute judge demo</a:t>
            </a:r>
            <a:endParaRPr/>
          </a:p>
        </p:txBody>
      </p:sp>
      <p:sp>
        <p:nvSpPr>
          <p:cNvPr id="297" name="Google Shape;297;p19"/>
          <p:cNvSpPr/>
          <p:nvPr/>
        </p:nvSpPr>
        <p:spPr>
          <a:xfrm>
            <a:off x="950976" y="4251960"/>
            <a:ext cx="3520440" cy="128016"/>
          </a:xfrm>
          <a:prstGeom prst="rect">
            <a:avLst/>
          </a:prstGeom>
          <a:noFill/>
          <a:ln>
            <a:noFill/>
          </a:ln>
        </p:spPr>
        <p:txBody>
          <a:bodyPr anchorCtr="0" anchor="ctr" bIns="18275" lIns="18275" spcFirstLastPara="1" rIns="18275" wrap="square" tIns="18275">
            <a:normAutofit/>
          </a:bodyPr>
          <a:lstStyle/>
          <a:p>
            <a:pPr indent="0" lvl="0" marL="0" marR="0" rtl="0" algn="l">
              <a:spcBef>
                <a:spcPts val="0"/>
              </a:spcBef>
              <a:spcAft>
                <a:spcPts val="0"/>
              </a:spcAft>
              <a:buNone/>
            </a:pPr>
            <a:r>
              <a:rPr lang="en-US" sz="900">
                <a:solidFill>
                  <a:srgbClr val="485E56"/>
                </a:solidFill>
                <a:latin typeface="Arial"/>
                <a:ea typeface="Arial"/>
                <a:cs typeface="Arial"/>
                <a:sym typeface="Arial"/>
              </a:rPr>
              <a:t>Map → Prove → Assure → Compare → Carry</a:t>
            </a:r>
            <a:endParaRPr/>
          </a:p>
        </p:txBody>
      </p:sp>
      <p:sp>
        <p:nvSpPr>
          <p:cNvPr id="298" name="Google Shape;298;p19"/>
          <p:cNvSpPr/>
          <p:nvPr/>
        </p:nvSpPr>
        <p:spPr>
          <a:xfrm>
            <a:off x="6428232" y="804672"/>
            <a:ext cx="5321808" cy="5257800"/>
          </a:xfrm>
          <a:prstGeom prst="roundRect">
            <a:avLst>
              <a:gd fmla="val 2435"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9" name="Google Shape;299;p19"/>
          <p:cNvSpPr/>
          <p:nvPr/>
        </p:nvSpPr>
        <p:spPr>
          <a:xfrm>
            <a:off x="6784848" y="1188720"/>
            <a:ext cx="2743200" cy="32004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None/>
            </a:pPr>
            <a:r>
              <a:rPr b="1" lang="en-US" sz="2600">
                <a:solidFill>
                  <a:srgbClr val="0E261E"/>
                </a:solidFill>
                <a:latin typeface="Georgia"/>
                <a:ea typeface="Georgia"/>
                <a:cs typeface="Georgia"/>
                <a:sym typeface="Georgia"/>
              </a:rPr>
              <a:t>Submission Team</a:t>
            </a:r>
            <a:endParaRPr/>
          </a:p>
        </p:txBody>
      </p:sp>
      <p:sp>
        <p:nvSpPr>
          <p:cNvPr id="300" name="Google Shape;300;p19"/>
          <p:cNvSpPr/>
          <p:nvPr/>
        </p:nvSpPr>
        <p:spPr>
          <a:xfrm>
            <a:off x="6784848" y="1719072"/>
            <a:ext cx="4407408" cy="621792"/>
          </a:xfrm>
          <a:prstGeom prst="roundRect">
            <a:avLst>
              <a:gd fmla="val 15385" name="adj"/>
            </a:avLst>
          </a:prstGeom>
          <a:solidFill>
            <a:srgbClr val="F8FBF8"/>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1" name="Google Shape;301;p19"/>
          <p:cNvSpPr/>
          <p:nvPr/>
        </p:nvSpPr>
        <p:spPr>
          <a:xfrm>
            <a:off x="6995160" y="1828800"/>
            <a:ext cx="3886200" cy="402336"/>
          </a:xfrm>
          <a:prstGeom prst="rect">
            <a:avLst/>
          </a:prstGeom>
          <a:noFill/>
          <a:ln>
            <a:noFill/>
          </a:ln>
        </p:spPr>
        <p:txBody>
          <a:bodyPr anchorCtr="0" anchor="t" bIns="0" lIns="65000" spcFirstLastPara="1" rIns="65000" wrap="square" tIns="0">
            <a:normAutofit/>
          </a:bodyPr>
          <a:lstStyle/>
          <a:p>
            <a:pPr indent="0" lvl="0" marL="0" marR="0" rtl="0" algn="l">
              <a:spcBef>
                <a:spcPts val="0"/>
              </a:spcBef>
              <a:spcAft>
                <a:spcPts val="0"/>
              </a:spcAft>
              <a:buNone/>
            </a:pPr>
            <a:r>
              <a:rPr b="1" lang="en-US" sz="1450">
                <a:solidFill>
                  <a:srgbClr val="007650"/>
                </a:solidFill>
                <a:latin typeface="Arial"/>
                <a:ea typeface="Arial"/>
                <a:cs typeface="Arial"/>
                <a:sym typeface="Arial"/>
              </a:rPr>
              <a:t>Subodh KC</a:t>
            </a:r>
            <a:endParaRPr/>
          </a:p>
          <a:p>
            <a:pPr indent="0" lvl="0" marL="0" marR="0" rtl="0" algn="l">
              <a:spcBef>
                <a:spcPts val="0"/>
              </a:spcBef>
              <a:spcAft>
                <a:spcPts val="0"/>
              </a:spcAft>
              <a:buNone/>
            </a:pPr>
            <a:r>
              <a:rPr b="0" lang="en-US" sz="830">
                <a:solidFill>
                  <a:srgbClr val="596A62"/>
                </a:solidFill>
                <a:latin typeface="Arial"/>
                <a:ea typeface="Arial"/>
                <a:cs typeface="Arial"/>
                <a:sym typeface="Arial"/>
              </a:rPr>
              <a:t>Founder, HAIEC · Former Fortune 100 AI Strategy &amp; Implementation CTL</a:t>
            </a:r>
            <a:endParaRPr/>
          </a:p>
        </p:txBody>
      </p:sp>
      <p:sp>
        <p:nvSpPr>
          <p:cNvPr id="302" name="Google Shape;302;p19"/>
          <p:cNvSpPr/>
          <p:nvPr/>
        </p:nvSpPr>
        <p:spPr>
          <a:xfrm>
            <a:off x="6784848" y="2514600"/>
            <a:ext cx="4407408" cy="621792"/>
          </a:xfrm>
          <a:prstGeom prst="roundRect">
            <a:avLst>
              <a:gd fmla="val 15385" name="adj"/>
            </a:avLst>
          </a:prstGeom>
          <a:solidFill>
            <a:srgbClr val="F8FBF8"/>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3" name="Google Shape;303;p19"/>
          <p:cNvSpPr/>
          <p:nvPr/>
        </p:nvSpPr>
        <p:spPr>
          <a:xfrm>
            <a:off x="6995160" y="2624328"/>
            <a:ext cx="3886200" cy="40233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6948"/>
              </a:buClr>
              <a:buSzPts val="1450"/>
              <a:buFont typeface="Arial"/>
              <a:buNone/>
            </a:pPr>
            <a:r>
              <a:rPr b="1" lang="en-US" sz="1450">
                <a:solidFill>
                  <a:srgbClr val="006948"/>
                </a:solidFill>
                <a:latin typeface="Arial"/>
                <a:ea typeface="Arial"/>
                <a:cs typeface="Arial"/>
                <a:sym typeface="Arial"/>
              </a:rPr>
              <a:t>Kushal Gautam</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0" lang="en-US" sz="780">
                <a:solidFill>
                  <a:srgbClr val="5C6C64"/>
                </a:solidFill>
                <a:latin typeface="Arial"/>
                <a:ea typeface="Arial"/>
                <a:cs typeface="Arial"/>
                <a:sym typeface="Arial"/>
              </a:rPr>
              <a:t>Data Engineer, SAP</a:t>
            </a:r>
            <a:endParaRPr/>
          </a:p>
        </p:txBody>
      </p:sp>
      <p:sp>
        <p:nvSpPr>
          <p:cNvPr id="304" name="Google Shape;304;p19"/>
          <p:cNvSpPr/>
          <p:nvPr/>
        </p:nvSpPr>
        <p:spPr>
          <a:xfrm>
            <a:off x="6784848" y="3310128"/>
            <a:ext cx="4407408" cy="621792"/>
          </a:xfrm>
          <a:prstGeom prst="roundRect">
            <a:avLst>
              <a:gd fmla="val 15385" name="adj"/>
            </a:avLst>
          </a:prstGeom>
          <a:solidFill>
            <a:srgbClr val="F8FBF8"/>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5" name="Google Shape;305;p19"/>
          <p:cNvSpPr/>
          <p:nvPr/>
        </p:nvSpPr>
        <p:spPr>
          <a:xfrm>
            <a:off x="6995160" y="3419856"/>
            <a:ext cx="3886200" cy="40233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6948"/>
              </a:buClr>
              <a:buSzPts val="1450"/>
              <a:buFont typeface="Arial"/>
              <a:buNone/>
            </a:pPr>
            <a:r>
              <a:rPr b="1" lang="en-US" sz="1450">
                <a:solidFill>
                  <a:srgbClr val="006948"/>
                </a:solidFill>
                <a:latin typeface="Arial"/>
                <a:ea typeface="Arial"/>
                <a:cs typeface="Arial"/>
                <a:sym typeface="Arial"/>
              </a:rPr>
              <a:t>Roshan Basnet</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0" lang="en-US" sz="780">
                <a:solidFill>
                  <a:srgbClr val="5C6C64"/>
                </a:solidFill>
                <a:latin typeface="Arial"/>
                <a:ea typeface="Arial"/>
                <a:cs typeface="Arial"/>
                <a:sym typeface="Arial"/>
              </a:rPr>
              <a:t>DevOps Engineer, United Airlines</a:t>
            </a:r>
            <a:endParaRPr/>
          </a:p>
        </p:txBody>
      </p:sp>
      <p:sp>
        <p:nvSpPr>
          <p:cNvPr id="306" name="Google Shape;306;p19"/>
          <p:cNvSpPr/>
          <p:nvPr/>
        </p:nvSpPr>
        <p:spPr>
          <a:xfrm>
            <a:off x="6784848" y="4160520"/>
            <a:ext cx="3931920" cy="182880"/>
          </a:xfrm>
          <a:prstGeom prst="rect">
            <a:avLst/>
          </a:prstGeom>
          <a:noFill/>
          <a:ln>
            <a:noFill/>
          </a:ln>
        </p:spPr>
        <p:txBody>
          <a:bodyPr anchorCtr="0" anchor="ctr" bIns="18275" lIns="18275" spcFirstLastPara="1" rIns="18275" wrap="square" tIns="18275">
            <a:normAutofit/>
          </a:bodyPr>
          <a:lstStyle/>
          <a:p>
            <a:pPr indent="0" lvl="0" marL="0" marR="0" rtl="0" algn="l">
              <a:spcBef>
                <a:spcPts val="0"/>
              </a:spcBef>
              <a:spcAft>
                <a:spcPts val="0"/>
              </a:spcAft>
              <a:buNone/>
            </a:pPr>
            <a:r>
              <a:rPr b="1" lang="en-US" sz="1100">
                <a:solidFill>
                  <a:srgbClr val="5C6C64"/>
                </a:solidFill>
                <a:latin typeface="Arial"/>
                <a:ea typeface="Arial"/>
                <a:cs typeface="Arial"/>
                <a:sym typeface="Arial"/>
              </a:rPr>
              <a:t>Human AI Evidence Company</a:t>
            </a:r>
            <a:endParaRPr/>
          </a:p>
        </p:txBody>
      </p:sp>
      <p:sp>
        <p:nvSpPr>
          <p:cNvPr id="307" name="Google Shape;307;p19"/>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08" name="Google Shape;308;p19"/>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
        <p:nvSpPr>
          <p:cNvPr id="309" name="Google Shape;309;p19">
            <a:hlinkClick r:id="rId5"/>
          </p:cNvPr>
          <p:cNvSpPr/>
          <p:nvPr/>
        </p:nvSpPr>
        <p:spPr>
          <a:xfrm>
            <a:off x="6784848" y="4736592"/>
            <a:ext cx="1755648" cy="320040"/>
          </a:xfrm>
          <a:prstGeom prst="roundRect">
            <a:avLst>
              <a:gd fmla="val 16667" name="adj"/>
            </a:avLst>
          </a:prstGeom>
          <a:solidFill>
            <a:srgbClr val="0A1C17"/>
          </a:solidFill>
          <a:ln>
            <a:noFill/>
          </a:ln>
        </p:spPr>
        <p:txBody>
          <a:bodyPr anchorCtr="0" anchor="ctr" bIns="27425" lIns="36575" spcFirstLastPara="1" rIns="36575" wrap="square" tIns="27425">
            <a:noAutofit/>
          </a:bodyPr>
          <a:lstStyle/>
          <a:p>
            <a:pPr indent="0" lvl="0" marL="0" marR="0" rtl="0" algn="ctr">
              <a:spcBef>
                <a:spcPts val="0"/>
              </a:spcBef>
              <a:spcAft>
                <a:spcPts val="0"/>
              </a:spcAft>
              <a:buNone/>
            </a:pPr>
            <a:r>
              <a:rPr b="1" lang="en-US" sz="850">
                <a:solidFill>
                  <a:srgbClr val="FFFFFF"/>
                </a:solidFill>
                <a:latin typeface="Arial"/>
                <a:ea typeface="Arial"/>
                <a:cs typeface="Arial"/>
                <a:sym typeface="Arial"/>
              </a:rPr>
              <a:t>Demo</a:t>
            </a:r>
            <a:endParaRPr/>
          </a:p>
        </p:txBody>
      </p:sp>
      <p:sp>
        <p:nvSpPr>
          <p:cNvPr id="310" name="Google Shape;310;p19">
            <a:hlinkClick r:id="rId6"/>
          </p:cNvPr>
          <p:cNvSpPr/>
          <p:nvPr/>
        </p:nvSpPr>
        <p:spPr>
          <a:xfrm>
            <a:off x="8732520" y="4736592"/>
            <a:ext cx="1755648" cy="320040"/>
          </a:xfrm>
          <a:prstGeom prst="roundRect">
            <a:avLst>
              <a:gd fmla="val 16667" name="adj"/>
            </a:avLst>
          </a:prstGeom>
          <a:solidFill>
            <a:srgbClr val="0A1C17"/>
          </a:solidFill>
          <a:ln>
            <a:noFill/>
          </a:ln>
        </p:spPr>
        <p:txBody>
          <a:bodyPr anchorCtr="0" anchor="ctr" bIns="27425" lIns="36575" spcFirstLastPara="1" rIns="36575" wrap="square" tIns="27425">
            <a:noAutofit/>
          </a:bodyPr>
          <a:lstStyle/>
          <a:p>
            <a:pPr indent="0" lvl="0" marL="0" marR="0" rtl="0" algn="ctr">
              <a:spcBef>
                <a:spcPts val="0"/>
              </a:spcBef>
              <a:spcAft>
                <a:spcPts val="0"/>
              </a:spcAft>
              <a:buNone/>
            </a:pPr>
            <a:r>
              <a:rPr b="1" lang="en-US" sz="850">
                <a:solidFill>
                  <a:srgbClr val="FFFFFF"/>
                </a:solidFill>
                <a:latin typeface="Arial"/>
                <a:ea typeface="Arial"/>
                <a:cs typeface="Arial"/>
                <a:sym typeface="Arial"/>
              </a:rPr>
              <a:t>Repo</a:t>
            </a:r>
            <a:endParaRPr/>
          </a:p>
        </p:txBody>
      </p:sp>
      <p:sp>
        <p:nvSpPr>
          <p:cNvPr id="311" name="Google Shape;311;p19">
            <a:hlinkClick r:id="rId7"/>
          </p:cNvPr>
          <p:cNvSpPr/>
          <p:nvPr/>
        </p:nvSpPr>
        <p:spPr>
          <a:xfrm>
            <a:off x="6784848" y="5157216"/>
            <a:ext cx="1755648" cy="320040"/>
          </a:xfrm>
          <a:prstGeom prst="roundRect">
            <a:avLst>
              <a:gd fmla="val 16667" name="adj"/>
            </a:avLst>
          </a:prstGeom>
          <a:solidFill>
            <a:srgbClr val="0A1C17"/>
          </a:solidFill>
          <a:ln>
            <a:noFill/>
          </a:ln>
        </p:spPr>
        <p:txBody>
          <a:bodyPr anchorCtr="0" anchor="ctr" bIns="27425" lIns="36575" spcFirstLastPara="1" rIns="36575" wrap="square" tIns="27425">
            <a:noAutofit/>
          </a:bodyPr>
          <a:lstStyle/>
          <a:p>
            <a:pPr indent="0" lvl="0" marL="0" marR="0" rtl="0" algn="ctr">
              <a:spcBef>
                <a:spcPts val="0"/>
              </a:spcBef>
              <a:spcAft>
                <a:spcPts val="0"/>
              </a:spcAft>
              <a:buNone/>
            </a:pPr>
            <a:r>
              <a:rPr b="1" lang="en-US" sz="850">
                <a:solidFill>
                  <a:srgbClr val="FFFFFF"/>
                </a:solidFill>
                <a:latin typeface="Arial"/>
                <a:ea typeface="Arial"/>
                <a:cs typeface="Arial"/>
                <a:sym typeface="Arial"/>
              </a:rPr>
              <a:t>Evidence pack</a:t>
            </a:r>
            <a:endParaRPr/>
          </a:p>
        </p:txBody>
      </p:sp>
      <p:sp>
        <p:nvSpPr>
          <p:cNvPr id="312" name="Google Shape;312;p19">
            <a:hlinkClick r:id="rId8"/>
          </p:cNvPr>
          <p:cNvSpPr/>
          <p:nvPr/>
        </p:nvSpPr>
        <p:spPr>
          <a:xfrm>
            <a:off x="8732520" y="5157216"/>
            <a:ext cx="1755648" cy="320040"/>
          </a:xfrm>
          <a:prstGeom prst="roundRect">
            <a:avLst>
              <a:gd fmla="val 16667" name="adj"/>
            </a:avLst>
          </a:prstGeom>
          <a:solidFill>
            <a:srgbClr val="0A1C17"/>
          </a:solidFill>
          <a:ln>
            <a:noFill/>
          </a:ln>
        </p:spPr>
        <p:txBody>
          <a:bodyPr anchorCtr="0" anchor="ctr" bIns="27425" lIns="36575" spcFirstLastPara="1" rIns="36575" wrap="square" tIns="27425">
            <a:noAutofit/>
          </a:bodyPr>
          <a:lstStyle/>
          <a:p>
            <a:pPr indent="0" lvl="0" marL="0" marR="0" rtl="0" algn="ctr">
              <a:spcBef>
                <a:spcPts val="0"/>
              </a:spcBef>
              <a:spcAft>
                <a:spcPts val="0"/>
              </a:spcAft>
              <a:buNone/>
            </a:pPr>
            <a:r>
              <a:rPr b="1" lang="en-US" sz="850">
                <a:solidFill>
                  <a:srgbClr val="FFFFFF"/>
                </a:solidFill>
                <a:latin typeface="Arial"/>
                <a:ea typeface="Arial"/>
                <a:cs typeface="Arial"/>
                <a:sym typeface="Arial"/>
              </a:rPr>
              <a:t>Technical deck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0"/>
          <p:cNvSpPr/>
          <p:nvPr/>
        </p:nvSpPr>
        <p:spPr>
          <a:xfrm>
            <a:off x="0" y="0"/>
            <a:ext cx="12191695" cy="6858000"/>
          </a:xfrm>
          <a:prstGeom prst="rect">
            <a:avLst/>
          </a:prstGeom>
          <a:solidFill>
            <a:srgbClr val="F7FA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19" name="Google Shape;319;p20"/>
          <p:cNvSpPr/>
          <p:nvPr/>
        </p:nvSpPr>
        <p:spPr>
          <a:xfrm>
            <a:off x="0" y="0"/>
            <a:ext cx="12191695" cy="329184"/>
          </a:xfrm>
          <a:prstGeom prst="rect">
            <a:avLst/>
          </a:prstGeom>
          <a:solidFill>
            <a:srgbClr val="F7FA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0" name="Google Shape;320;p20"/>
          <p:cNvSpPr txBox="1"/>
          <p:nvPr/>
        </p:nvSpPr>
        <p:spPr>
          <a:xfrm>
            <a:off x="210312" y="73152"/>
            <a:ext cx="4937760" cy="20116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919">
                <a:solidFill>
                  <a:srgbClr val="5D6F67"/>
                </a:solidFill>
                <a:latin typeface="Arial"/>
                <a:ea typeface="Arial"/>
                <a:cs typeface="Arial"/>
                <a:sym typeface="Arial"/>
              </a:rPr>
              <a:t>HAIEC · AI Action Path Assurance · MunichTech EXPO 2026</a:t>
            </a:r>
            <a:endParaRPr/>
          </a:p>
        </p:txBody>
      </p:sp>
      <p:sp>
        <p:nvSpPr>
          <p:cNvPr id="321" name="Google Shape;321;p20"/>
          <p:cNvSpPr txBox="1"/>
          <p:nvPr/>
        </p:nvSpPr>
        <p:spPr>
          <a:xfrm>
            <a:off x="11658600" y="73152"/>
            <a:ext cx="320040" cy="201168"/>
          </a:xfrm>
          <a:prstGeom prst="rect">
            <a:avLst/>
          </a:prstGeom>
          <a:noFill/>
          <a:ln>
            <a:noFill/>
          </a:ln>
        </p:spPr>
        <p:txBody>
          <a:bodyPr anchorCtr="0" anchor="t" bIns="18275" lIns="45700" spcFirstLastPara="1" rIns="45700" wrap="square" tIns="18275">
            <a:sp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20</a:t>
            </a:r>
            <a:endParaRPr/>
          </a:p>
        </p:txBody>
      </p:sp>
      <p:sp>
        <p:nvSpPr>
          <p:cNvPr id="322" name="Google Shape;322;p20"/>
          <p:cNvSpPr/>
          <p:nvPr/>
        </p:nvSpPr>
        <p:spPr>
          <a:xfrm>
            <a:off x="0" y="6473952"/>
            <a:ext cx="12191695" cy="384048"/>
          </a:xfrm>
          <a:prstGeom prst="rect">
            <a:avLst/>
          </a:prstGeom>
          <a:solidFill>
            <a:srgbClr val="F7FA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3" name="Google Shape;323;p20"/>
          <p:cNvSpPr/>
          <p:nvPr/>
        </p:nvSpPr>
        <p:spPr>
          <a:xfrm>
            <a:off x="411480" y="6565392"/>
            <a:ext cx="11338560" cy="2743"/>
          </a:xfrm>
          <a:prstGeom prst="rect">
            <a:avLst/>
          </a:prstGeom>
          <a:solidFill>
            <a:srgbClr val="D8E3D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4" name="Google Shape;324;p20"/>
          <p:cNvSpPr txBox="1"/>
          <p:nvPr/>
        </p:nvSpPr>
        <p:spPr>
          <a:xfrm>
            <a:off x="502920" y="566928"/>
            <a:ext cx="1508760" cy="20116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850">
                <a:solidFill>
                  <a:srgbClr val="007A4D"/>
                </a:solidFill>
                <a:latin typeface="Arial"/>
                <a:ea typeface="Arial"/>
                <a:cs typeface="Arial"/>
                <a:sym typeface="Arial"/>
              </a:rPr>
              <a:t>OPTIONAL REVIEW</a:t>
            </a:r>
            <a:endParaRPr/>
          </a:p>
        </p:txBody>
      </p:sp>
      <p:sp>
        <p:nvSpPr>
          <p:cNvPr id="325" name="Google Shape;325;p20"/>
          <p:cNvSpPr txBox="1"/>
          <p:nvPr/>
        </p:nvSpPr>
        <p:spPr>
          <a:xfrm>
            <a:off x="502920" y="804672"/>
            <a:ext cx="7863840" cy="38404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2600">
                <a:solidFill>
                  <a:srgbClr val="10251C"/>
                </a:solidFill>
                <a:latin typeface="Georgia"/>
                <a:ea typeface="Georgia"/>
                <a:cs typeface="Georgia"/>
                <a:sym typeface="Georgia"/>
              </a:rPr>
              <a:t>Optional interactive product review.</a:t>
            </a:r>
            <a:endParaRPr/>
          </a:p>
        </p:txBody>
      </p:sp>
      <p:sp>
        <p:nvSpPr>
          <p:cNvPr id="326" name="Google Shape;326;p20"/>
          <p:cNvSpPr txBox="1"/>
          <p:nvPr/>
        </p:nvSpPr>
        <p:spPr>
          <a:xfrm>
            <a:off x="502920" y="1197864"/>
            <a:ext cx="10607040" cy="301752"/>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1170">
                <a:solidFill>
                  <a:srgbClr val="596A62"/>
                </a:solidFill>
                <a:latin typeface="Arial"/>
                <a:ea typeface="Arial"/>
                <a:cs typeface="Arial"/>
                <a:sym typeface="Arial"/>
              </a:rPr>
              <a:t>Use this only if you want to explore the authenticated HAIEC product flow. The public Kestrel report and map require no login.</a:t>
            </a:r>
            <a:endParaRPr/>
          </a:p>
        </p:txBody>
      </p:sp>
      <p:sp>
        <p:nvSpPr>
          <p:cNvPr id="327" name="Google Shape;327;p20"/>
          <p:cNvSpPr/>
          <p:nvPr/>
        </p:nvSpPr>
        <p:spPr>
          <a:xfrm>
            <a:off x="594360" y="1737360"/>
            <a:ext cx="4892040" cy="3566160"/>
          </a:xfrm>
          <a:prstGeom prst="roundRect">
            <a:avLst>
              <a:gd fmla="val 16667" name="adj"/>
            </a:avLst>
          </a:prstGeom>
          <a:solidFill>
            <a:srgbClr val="FFFFFF"/>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8" name="Google Shape;328;p20"/>
          <p:cNvSpPr txBox="1"/>
          <p:nvPr/>
        </p:nvSpPr>
        <p:spPr>
          <a:xfrm>
            <a:off x="896112" y="1993392"/>
            <a:ext cx="3291840" cy="310896"/>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2200">
                <a:solidFill>
                  <a:srgbClr val="10251C"/>
                </a:solidFill>
                <a:latin typeface="Georgia"/>
                <a:ea typeface="Georgia"/>
                <a:cs typeface="Georgia"/>
                <a:sym typeface="Georgia"/>
              </a:rPr>
              <a:t>Start public first</a:t>
            </a:r>
            <a:endParaRPr/>
          </a:p>
        </p:txBody>
      </p:sp>
      <p:sp>
        <p:nvSpPr>
          <p:cNvPr id="329" name="Google Shape;329;p20"/>
          <p:cNvSpPr txBox="1"/>
          <p:nvPr/>
        </p:nvSpPr>
        <p:spPr>
          <a:xfrm>
            <a:off x="914400" y="2359152"/>
            <a:ext cx="3931920" cy="2286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1080">
                <a:solidFill>
                  <a:srgbClr val="5D6F67"/>
                </a:solidFill>
                <a:latin typeface="Arial"/>
                <a:ea typeface="Arial"/>
                <a:cs typeface="Arial"/>
                <a:sym typeface="Arial"/>
              </a:rPr>
              <a:t>The flagship evidence path has no account friction.</a:t>
            </a:r>
            <a:endParaRPr/>
          </a:p>
        </p:txBody>
      </p:sp>
      <p:sp>
        <p:nvSpPr>
          <p:cNvPr id="330" name="Google Shape;330;p20">
            <a:hlinkClick r:id="rId3"/>
          </p:cNvPr>
          <p:cNvSpPr/>
          <p:nvPr/>
        </p:nvSpPr>
        <p:spPr>
          <a:xfrm>
            <a:off x="914400" y="2816352"/>
            <a:ext cx="4251960" cy="493776"/>
          </a:xfrm>
          <a:prstGeom prst="roundRect">
            <a:avLst>
              <a:gd fmla="val 16667" name="adj"/>
            </a:avLst>
          </a:prstGeom>
          <a:solidFill>
            <a:srgbClr val="EAF7F0"/>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1" name="Google Shape;331;p20"/>
          <p:cNvSpPr txBox="1"/>
          <p:nvPr/>
        </p:nvSpPr>
        <p:spPr>
          <a:xfrm>
            <a:off x="987552" y="2862072"/>
            <a:ext cx="4105656" cy="420624"/>
          </a:xfrm>
          <a:prstGeom prst="rect">
            <a:avLst/>
          </a:prstGeom>
          <a:noFill/>
          <a:ln>
            <a:noFill/>
          </a:ln>
        </p:spPr>
        <p:txBody>
          <a:bodyPr anchorCtr="0" anchor="ctr" bIns="18275" lIns="120000" spcFirstLastPara="1" rIns="120000" wrap="square" tIns="18275">
            <a:spAutoFit/>
          </a:bodyPr>
          <a:lstStyle/>
          <a:p>
            <a:pPr indent="0" lvl="0" marL="0" marR="0" rtl="0" algn="ctr">
              <a:spcBef>
                <a:spcPts val="0"/>
              </a:spcBef>
              <a:spcAft>
                <a:spcPts val="0"/>
              </a:spcAft>
              <a:buNone/>
            </a:pPr>
            <a:r>
              <a:rPr b="1" lang="en-US" sz="1250">
                <a:solidFill>
                  <a:srgbClr val="007650"/>
                </a:solidFill>
                <a:latin typeface="Arial"/>
                <a:ea typeface="Arial"/>
                <a:cs typeface="Arial"/>
                <a:sym typeface="Arial"/>
              </a:rPr>
              <a:t>Kestrel Assurance Report</a:t>
            </a:r>
            <a:endParaRPr/>
          </a:p>
        </p:txBody>
      </p:sp>
      <p:sp>
        <p:nvSpPr>
          <p:cNvPr id="332" name="Google Shape;332;p20">
            <a:hlinkClick r:id="rId4"/>
          </p:cNvPr>
          <p:cNvSpPr/>
          <p:nvPr/>
        </p:nvSpPr>
        <p:spPr>
          <a:xfrm>
            <a:off x="914400" y="3493008"/>
            <a:ext cx="4251960" cy="493776"/>
          </a:xfrm>
          <a:prstGeom prst="roundRect">
            <a:avLst>
              <a:gd fmla="val 16667" name="adj"/>
            </a:avLst>
          </a:prstGeom>
          <a:solidFill>
            <a:srgbClr val="EAF7F0"/>
          </a:solidFill>
          <a:ln cap="flat" cmpd="sng" w="12700">
            <a:solidFill>
              <a:srgbClr val="D8E3D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3" name="Google Shape;333;p20"/>
          <p:cNvSpPr txBox="1"/>
          <p:nvPr/>
        </p:nvSpPr>
        <p:spPr>
          <a:xfrm>
            <a:off x="987552" y="3538727"/>
            <a:ext cx="4105656" cy="420624"/>
          </a:xfrm>
          <a:prstGeom prst="rect">
            <a:avLst/>
          </a:prstGeom>
          <a:noFill/>
          <a:ln>
            <a:noFill/>
          </a:ln>
        </p:spPr>
        <p:txBody>
          <a:bodyPr anchorCtr="0" anchor="ctr" bIns="18275" lIns="120000" spcFirstLastPara="1" rIns="120000" wrap="square" tIns="18275">
            <a:spAutoFit/>
          </a:bodyPr>
          <a:lstStyle/>
          <a:p>
            <a:pPr indent="0" lvl="0" marL="0" marR="0" rtl="0" algn="ctr">
              <a:spcBef>
                <a:spcPts val="0"/>
              </a:spcBef>
              <a:spcAft>
                <a:spcPts val="0"/>
              </a:spcAft>
              <a:buNone/>
            </a:pPr>
            <a:r>
              <a:rPr b="1" lang="en-US" sz="1250">
                <a:solidFill>
                  <a:srgbClr val="007650"/>
                </a:solidFill>
                <a:latin typeface="Arial"/>
                <a:ea typeface="Arial"/>
                <a:cs typeface="Arial"/>
                <a:sym typeface="Arial"/>
              </a:rPr>
              <a:t>Kestrel System Consequence Map</a:t>
            </a:r>
            <a:endParaRPr/>
          </a:p>
        </p:txBody>
      </p:sp>
      <p:sp>
        <p:nvSpPr>
          <p:cNvPr id="334" name="Google Shape;334;p20"/>
          <p:cNvSpPr/>
          <p:nvPr/>
        </p:nvSpPr>
        <p:spPr>
          <a:xfrm>
            <a:off x="914400" y="4315968"/>
            <a:ext cx="4251960" cy="512064"/>
          </a:xfrm>
          <a:prstGeom prst="roundRect">
            <a:avLst>
              <a:gd fmla="val 16667" name="adj"/>
            </a:avLst>
          </a:prstGeom>
          <a:solidFill>
            <a:srgbClr val="EAF7F0"/>
          </a:solidFill>
          <a:ln cap="flat" cmpd="sng" w="12700">
            <a:solidFill>
              <a:srgbClr val="B9DEC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5" name="Google Shape;335;p20"/>
          <p:cNvSpPr txBox="1"/>
          <p:nvPr/>
        </p:nvSpPr>
        <p:spPr>
          <a:xfrm>
            <a:off x="1060704" y="4480560"/>
            <a:ext cx="3931920" cy="146304"/>
          </a:xfrm>
          <a:prstGeom prst="rect">
            <a:avLst/>
          </a:prstGeom>
          <a:noFill/>
          <a:ln>
            <a:noFill/>
          </a:ln>
        </p:spPr>
        <p:txBody>
          <a:bodyPr anchorCtr="0" anchor="ctr" bIns="18275" lIns="120000" spcFirstLastPara="1" rIns="120000" wrap="square" tIns="18275">
            <a:spAutoFit/>
          </a:bodyPr>
          <a:lstStyle/>
          <a:p>
            <a:pPr indent="0" lvl="0" marL="0" marR="0" rtl="0" algn="ctr">
              <a:spcBef>
                <a:spcPts val="0"/>
              </a:spcBef>
              <a:spcAft>
                <a:spcPts val="0"/>
              </a:spcAft>
              <a:buNone/>
            </a:pPr>
            <a:r>
              <a:rPr b="1" lang="en-US" sz="1130">
                <a:solidFill>
                  <a:srgbClr val="007650"/>
                </a:solidFill>
                <a:latin typeface="Arial"/>
                <a:ea typeface="Arial"/>
                <a:cs typeface="Arial"/>
                <a:sym typeface="Arial"/>
              </a:rPr>
              <a:t>No login required for the public flagship demo.</a:t>
            </a:r>
            <a:endParaRPr/>
          </a:p>
        </p:txBody>
      </p:sp>
      <p:sp>
        <p:nvSpPr>
          <p:cNvPr id="336" name="Google Shape;336;p20"/>
          <p:cNvSpPr/>
          <p:nvPr/>
        </p:nvSpPr>
        <p:spPr>
          <a:xfrm>
            <a:off x="5806440" y="1737360"/>
            <a:ext cx="5806440" cy="3566160"/>
          </a:xfrm>
          <a:prstGeom prst="roundRect">
            <a:avLst>
              <a:gd fmla="val 16667" name="adj"/>
            </a:avLst>
          </a:prstGeom>
          <a:solidFill>
            <a:srgbClr val="0D211A"/>
          </a:solidFill>
          <a:ln cap="flat" cmpd="sng" w="12700">
            <a:solidFill>
              <a:srgbClr val="0D211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7" name="Google Shape;337;p20"/>
          <p:cNvSpPr txBox="1"/>
          <p:nvPr/>
        </p:nvSpPr>
        <p:spPr>
          <a:xfrm>
            <a:off x="6144768" y="1993392"/>
            <a:ext cx="2011680" cy="201168"/>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900">
                <a:solidFill>
                  <a:srgbClr val="A9F0CE"/>
                </a:solidFill>
                <a:latin typeface="Arial"/>
                <a:ea typeface="Arial"/>
                <a:cs typeface="Arial"/>
                <a:sym typeface="Arial"/>
              </a:rPr>
              <a:t>DEMO WORKSPACE</a:t>
            </a:r>
            <a:endParaRPr/>
          </a:p>
        </p:txBody>
      </p:sp>
      <p:sp>
        <p:nvSpPr>
          <p:cNvPr id="338" name="Google Shape;338;p20"/>
          <p:cNvSpPr txBox="1"/>
          <p:nvPr/>
        </p:nvSpPr>
        <p:spPr>
          <a:xfrm>
            <a:off x="6144768" y="2267712"/>
            <a:ext cx="3566160" cy="329184"/>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2300">
                <a:solidFill>
                  <a:srgbClr val="FFFFFF"/>
                </a:solidFill>
                <a:latin typeface="Georgia"/>
                <a:ea typeface="Georgia"/>
                <a:cs typeface="Georgia"/>
                <a:sym typeface="Georgia"/>
              </a:rPr>
              <a:t>MunichTech Demo</a:t>
            </a:r>
            <a:endParaRPr/>
          </a:p>
        </p:txBody>
      </p:sp>
      <p:sp>
        <p:nvSpPr>
          <p:cNvPr id="339" name="Google Shape;339;p20"/>
          <p:cNvSpPr txBox="1"/>
          <p:nvPr/>
        </p:nvSpPr>
        <p:spPr>
          <a:xfrm>
            <a:off x="6144768" y="2624328"/>
            <a:ext cx="4663440" cy="219456"/>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1080">
                <a:solidFill>
                  <a:srgbClr val="DCEFE7"/>
                </a:solidFill>
                <a:latin typeface="Arial"/>
                <a:ea typeface="Arial"/>
                <a:cs typeface="Arial"/>
                <a:sym typeface="Arial"/>
              </a:rPr>
              <a:t>Dedicated judge account with demonstration data only.</a:t>
            </a:r>
            <a:endParaRPr/>
          </a:p>
        </p:txBody>
      </p:sp>
      <p:sp>
        <p:nvSpPr>
          <p:cNvPr id="340" name="Google Shape;340;p20"/>
          <p:cNvSpPr/>
          <p:nvPr/>
        </p:nvSpPr>
        <p:spPr>
          <a:xfrm>
            <a:off x="6172200" y="3044952"/>
            <a:ext cx="5074920" cy="384048"/>
          </a:xfrm>
          <a:prstGeom prst="roundRect">
            <a:avLst>
              <a:gd fmla="val 16667" name="adj"/>
            </a:avLst>
          </a:prstGeom>
          <a:solidFill>
            <a:srgbClr val="102B22"/>
          </a:solidFill>
          <a:ln cap="flat" cmpd="sng" w="12700">
            <a:solidFill>
              <a:srgbClr val="29514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1" name="Google Shape;341;p20"/>
          <p:cNvSpPr txBox="1"/>
          <p:nvPr/>
        </p:nvSpPr>
        <p:spPr>
          <a:xfrm>
            <a:off x="6345936" y="3145536"/>
            <a:ext cx="1097280" cy="1371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880">
                <a:solidFill>
                  <a:srgbClr val="A9F0CE"/>
                </a:solidFill>
                <a:latin typeface="Arial"/>
                <a:ea typeface="Arial"/>
                <a:cs typeface="Arial"/>
                <a:sym typeface="Arial"/>
              </a:rPr>
              <a:t>Login</a:t>
            </a:r>
            <a:endParaRPr/>
          </a:p>
        </p:txBody>
      </p:sp>
      <p:sp>
        <p:nvSpPr>
          <p:cNvPr id="342" name="Google Shape;342;p20"/>
          <p:cNvSpPr txBox="1"/>
          <p:nvPr/>
        </p:nvSpPr>
        <p:spPr>
          <a:xfrm>
            <a:off x="7461504" y="3127248"/>
            <a:ext cx="3566160" cy="146304"/>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019">
                <a:solidFill>
                  <a:srgbClr val="FFFFFF"/>
                </a:solidFill>
                <a:latin typeface="Arial"/>
                <a:ea typeface="Arial"/>
                <a:cs typeface="Arial"/>
                <a:sym typeface="Arial"/>
              </a:rPr>
              <a:t>https://www.haiec.com/login</a:t>
            </a:r>
            <a:endParaRPr/>
          </a:p>
        </p:txBody>
      </p:sp>
      <p:sp>
        <p:nvSpPr>
          <p:cNvPr id="343" name="Google Shape;343;p20">
            <a:hlinkClick r:id="rId5"/>
          </p:cNvPr>
          <p:cNvSpPr/>
          <p:nvPr/>
        </p:nvSpPr>
        <p:spPr>
          <a:xfrm>
            <a:off x="6172200" y="3044952"/>
            <a:ext cx="5074920" cy="384048"/>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4" name="Google Shape;344;p20"/>
          <p:cNvSpPr/>
          <p:nvPr/>
        </p:nvSpPr>
        <p:spPr>
          <a:xfrm>
            <a:off x="6172200" y="3520440"/>
            <a:ext cx="5074920" cy="384048"/>
          </a:xfrm>
          <a:prstGeom prst="roundRect">
            <a:avLst>
              <a:gd fmla="val 16667" name="adj"/>
            </a:avLst>
          </a:prstGeom>
          <a:solidFill>
            <a:srgbClr val="102B22"/>
          </a:solidFill>
          <a:ln cap="flat" cmpd="sng" w="12700">
            <a:solidFill>
              <a:srgbClr val="29514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5" name="Google Shape;345;p20"/>
          <p:cNvSpPr txBox="1"/>
          <p:nvPr/>
        </p:nvSpPr>
        <p:spPr>
          <a:xfrm>
            <a:off x="6345936" y="3621024"/>
            <a:ext cx="1097280" cy="1371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880">
                <a:solidFill>
                  <a:srgbClr val="A9F0CE"/>
                </a:solidFill>
                <a:latin typeface="Arial"/>
                <a:ea typeface="Arial"/>
                <a:cs typeface="Arial"/>
                <a:sym typeface="Arial"/>
              </a:rPr>
              <a:t>Email</a:t>
            </a:r>
            <a:endParaRPr/>
          </a:p>
        </p:txBody>
      </p:sp>
      <p:sp>
        <p:nvSpPr>
          <p:cNvPr id="346" name="Google Shape;346;p20"/>
          <p:cNvSpPr txBox="1"/>
          <p:nvPr/>
        </p:nvSpPr>
        <p:spPr>
          <a:xfrm>
            <a:off x="7461504" y="3602736"/>
            <a:ext cx="3566160" cy="146304"/>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019">
                <a:solidFill>
                  <a:srgbClr val="FFFFFF"/>
                </a:solidFill>
                <a:latin typeface="Arial"/>
                <a:ea typeface="Arial"/>
                <a:cs typeface="Arial"/>
                <a:sym typeface="Arial"/>
              </a:rPr>
              <a:t>munich-judge@haiec.com</a:t>
            </a:r>
            <a:endParaRPr/>
          </a:p>
        </p:txBody>
      </p:sp>
      <p:sp>
        <p:nvSpPr>
          <p:cNvPr id="347" name="Google Shape;347;p20"/>
          <p:cNvSpPr/>
          <p:nvPr/>
        </p:nvSpPr>
        <p:spPr>
          <a:xfrm>
            <a:off x="6172200" y="3995928"/>
            <a:ext cx="5074920" cy="384048"/>
          </a:xfrm>
          <a:prstGeom prst="roundRect">
            <a:avLst>
              <a:gd fmla="val 16667" name="adj"/>
            </a:avLst>
          </a:prstGeom>
          <a:solidFill>
            <a:srgbClr val="102B22"/>
          </a:solidFill>
          <a:ln cap="flat" cmpd="sng" w="12700">
            <a:solidFill>
              <a:srgbClr val="29514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8" name="Google Shape;348;p20"/>
          <p:cNvSpPr txBox="1"/>
          <p:nvPr/>
        </p:nvSpPr>
        <p:spPr>
          <a:xfrm>
            <a:off x="6345936" y="4096512"/>
            <a:ext cx="1097280" cy="1371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880">
                <a:solidFill>
                  <a:srgbClr val="A9F0CE"/>
                </a:solidFill>
                <a:latin typeface="Arial"/>
                <a:ea typeface="Arial"/>
                <a:cs typeface="Arial"/>
                <a:sym typeface="Arial"/>
              </a:rPr>
              <a:t>Password</a:t>
            </a:r>
            <a:endParaRPr/>
          </a:p>
        </p:txBody>
      </p:sp>
      <p:sp>
        <p:nvSpPr>
          <p:cNvPr id="349" name="Google Shape;349;p20"/>
          <p:cNvSpPr txBox="1"/>
          <p:nvPr/>
        </p:nvSpPr>
        <p:spPr>
          <a:xfrm>
            <a:off x="7461504" y="4078224"/>
            <a:ext cx="3566160" cy="146304"/>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019">
                <a:solidFill>
                  <a:srgbClr val="FFFFFF"/>
                </a:solidFill>
                <a:latin typeface="Arial"/>
                <a:ea typeface="Arial"/>
                <a:cs typeface="Arial"/>
                <a:sym typeface="Arial"/>
              </a:rPr>
              <a:t>Kestrel-Judge-2026</a:t>
            </a:r>
            <a:endParaRPr/>
          </a:p>
        </p:txBody>
      </p:sp>
      <p:sp>
        <p:nvSpPr>
          <p:cNvPr id="350" name="Google Shape;350;p20"/>
          <p:cNvSpPr/>
          <p:nvPr/>
        </p:nvSpPr>
        <p:spPr>
          <a:xfrm>
            <a:off x="6172200" y="4471416"/>
            <a:ext cx="5074920" cy="384048"/>
          </a:xfrm>
          <a:prstGeom prst="roundRect">
            <a:avLst>
              <a:gd fmla="val 16667" name="adj"/>
            </a:avLst>
          </a:prstGeom>
          <a:solidFill>
            <a:srgbClr val="102B22"/>
          </a:solidFill>
          <a:ln cap="flat" cmpd="sng" w="12700">
            <a:solidFill>
              <a:srgbClr val="29514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51" name="Google Shape;351;p20"/>
          <p:cNvSpPr txBox="1"/>
          <p:nvPr/>
        </p:nvSpPr>
        <p:spPr>
          <a:xfrm>
            <a:off x="6345936" y="4572000"/>
            <a:ext cx="1097280" cy="1371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880">
                <a:solidFill>
                  <a:srgbClr val="A9F0CE"/>
                </a:solidFill>
                <a:latin typeface="Arial"/>
                <a:ea typeface="Arial"/>
                <a:cs typeface="Arial"/>
                <a:sym typeface="Arial"/>
              </a:rPr>
              <a:t>Workspace</a:t>
            </a:r>
            <a:endParaRPr/>
          </a:p>
        </p:txBody>
      </p:sp>
      <p:sp>
        <p:nvSpPr>
          <p:cNvPr id="352" name="Google Shape;352;p20"/>
          <p:cNvSpPr txBox="1"/>
          <p:nvPr/>
        </p:nvSpPr>
        <p:spPr>
          <a:xfrm>
            <a:off x="7461504" y="4553712"/>
            <a:ext cx="3566160" cy="146304"/>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1019">
                <a:solidFill>
                  <a:srgbClr val="FFFFFF"/>
                </a:solidFill>
                <a:latin typeface="Arial"/>
                <a:ea typeface="Arial"/>
                <a:cs typeface="Arial"/>
                <a:sym typeface="Arial"/>
              </a:rPr>
              <a:t>MunichTech Demo</a:t>
            </a:r>
            <a:endParaRPr/>
          </a:p>
        </p:txBody>
      </p:sp>
      <p:sp>
        <p:nvSpPr>
          <p:cNvPr id="353" name="Google Shape;353;p20"/>
          <p:cNvSpPr/>
          <p:nvPr/>
        </p:nvSpPr>
        <p:spPr>
          <a:xfrm>
            <a:off x="594360" y="5532120"/>
            <a:ext cx="11018520" cy="502920"/>
          </a:xfrm>
          <a:prstGeom prst="roundRect">
            <a:avLst>
              <a:gd fmla="val 16667" name="adj"/>
            </a:avLst>
          </a:prstGeom>
          <a:solidFill>
            <a:srgbClr val="FFF4D2"/>
          </a:solidFill>
          <a:ln cap="flat" cmpd="sng" w="12700">
            <a:solidFill>
              <a:srgbClr val="E6C35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54" name="Google Shape;354;p20"/>
          <p:cNvSpPr txBox="1"/>
          <p:nvPr/>
        </p:nvSpPr>
        <p:spPr>
          <a:xfrm>
            <a:off x="841248" y="5669280"/>
            <a:ext cx="822960" cy="146304"/>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1" lang="en-US" sz="900">
                <a:solidFill>
                  <a:srgbClr val="10251C"/>
                </a:solidFill>
                <a:latin typeface="Arial"/>
                <a:ea typeface="Arial"/>
                <a:cs typeface="Arial"/>
                <a:sym typeface="Arial"/>
              </a:rPr>
              <a:t>Boundary</a:t>
            </a:r>
            <a:endParaRPr/>
          </a:p>
        </p:txBody>
      </p:sp>
      <p:sp>
        <p:nvSpPr>
          <p:cNvPr id="355" name="Google Shape;355;p20"/>
          <p:cNvSpPr txBox="1"/>
          <p:nvPr/>
        </p:nvSpPr>
        <p:spPr>
          <a:xfrm>
            <a:off x="1572768" y="5669280"/>
            <a:ext cx="9052560" cy="146304"/>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None/>
            </a:pPr>
            <a:r>
              <a:rPr b="0" lang="en-US" sz="1019">
                <a:solidFill>
                  <a:srgbClr val="10251C"/>
                </a:solidFill>
                <a:latin typeface="Arial"/>
                <a:ea typeface="Arial"/>
                <a:cs typeface="Arial"/>
                <a:sym typeface="Arial"/>
              </a:rPr>
              <a:t>This environment contains demonstration data only and is intended for judge review of the product workflow.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360" name="Shape 360"/>
        <p:cNvGrpSpPr/>
        <p:nvPr/>
      </p:nvGrpSpPr>
      <p:grpSpPr>
        <a:xfrm>
          <a:off x="0" y="0"/>
          <a:ext cx="0" cy="0"/>
          <a:chOff x="0" y="0"/>
          <a:chExt cx="0" cy="0"/>
        </a:xfrm>
      </p:grpSpPr>
      <p:sp>
        <p:nvSpPr>
          <p:cNvPr id="361" name="Google Shape;361;p21"/>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2" name="Google Shape;362;p21"/>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363" name="Google Shape;363;p21"/>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21</a:t>
            </a:r>
            <a:endParaRPr/>
          </a:p>
        </p:txBody>
      </p:sp>
      <p:sp>
        <p:nvSpPr>
          <p:cNvPr id="364" name="Google Shape;364;p21"/>
          <p:cNvSpPr/>
          <p:nvPr/>
        </p:nvSpPr>
        <p:spPr>
          <a:xfrm>
            <a:off x="438912" y="786384"/>
            <a:ext cx="2834640" cy="16459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900"/>
              <a:buFont typeface="Arial"/>
              <a:buNone/>
            </a:pPr>
            <a:r>
              <a:rPr b="1" lang="en-US" sz="900">
                <a:solidFill>
                  <a:srgbClr val="0E6B4A"/>
                </a:solidFill>
                <a:latin typeface="Arial"/>
                <a:ea typeface="Arial"/>
                <a:cs typeface="Arial"/>
                <a:sym typeface="Arial"/>
              </a:rPr>
              <a:t>JUDGE LINKS</a:t>
            </a:r>
            <a:endParaRPr sz="900">
              <a:solidFill>
                <a:schemeClr val="dk1"/>
              </a:solidFill>
              <a:latin typeface="Arial"/>
              <a:ea typeface="Arial"/>
              <a:cs typeface="Arial"/>
              <a:sym typeface="Arial"/>
            </a:endParaRPr>
          </a:p>
        </p:txBody>
      </p:sp>
      <p:sp>
        <p:nvSpPr>
          <p:cNvPr id="365" name="Google Shape;365;p21"/>
          <p:cNvSpPr/>
          <p:nvPr/>
        </p:nvSpPr>
        <p:spPr>
          <a:xfrm>
            <a:off x="438912" y="1005840"/>
            <a:ext cx="7223760" cy="3840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4201C"/>
              </a:buClr>
              <a:buSzPts val="2700"/>
              <a:buFont typeface="Georgia"/>
              <a:buNone/>
            </a:pPr>
            <a:r>
              <a:rPr b="1" lang="en-US" sz="2700">
                <a:solidFill>
                  <a:srgbClr val="14201C"/>
                </a:solidFill>
                <a:latin typeface="Georgia"/>
                <a:ea typeface="Georgia"/>
                <a:cs typeface="Georgia"/>
                <a:sym typeface="Georgia"/>
              </a:rPr>
              <a:t>Judge, demo and evidence links.</a:t>
            </a:r>
            <a:endParaRPr sz="2700">
              <a:solidFill>
                <a:schemeClr val="dk1"/>
              </a:solidFill>
              <a:latin typeface="Arial"/>
              <a:ea typeface="Arial"/>
              <a:cs typeface="Arial"/>
              <a:sym typeface="Arial"/>
            </a:endParaRPr>
          </a:p>
        </p:txBody>
      </p:sp>
      <p:sp>
        <p:nvSpPr>
          <p:cNvPr id="366" name="Google Shape;366;p21"/>
          <p:cNvSpPr/>
          <p:nvPr/>
        </p:nvSpPr>
        <p:spPr>
          <a:xfrm>
            <a:off x="438912" y="1481328"/>
            <a:ext cx="9875520" cy="27432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374741"/>
              </a:buClr>
              <a:buSzPts val="1260"/>
              <a:buFont typeface="Arial"/>
              <a:buNone/>
            </a:pPr>
            <a:r>
              <a:rPr lang="en-US" sz="1260">
                <a:solidFill>
                  <a:srgbClr val="374741"/>
                </a:solidFill>
                <a:latin typeface="Arial"/>
                <a:ea typeface="Arial"/>
                <a:cs typeface="Arial"/>
                <a:sym typeface="Arial"/>
              </a:rPr>
              <a:t>Start with the video, then inspect the live product, repository and evidence package.</a:t>
            </a:r>
            <a:endParaRPr sz="1260">
              <a:solidFill>
                <a:schemeClr val="dk1"/>
              </a:solidFill>
              <a:latin typeface="Arial"/>
              <a:ea typeface="Arial"/>
              <a:cs typeface="Arial"/>
              <a:sym typeface="Arial"/>
            </a:endParaRPr>
          </a:p>
        </p:txBody>
      </p:sp>
      <p:sp>
        <p:nvSpPr>
          <p:cNvPr id="367" name="Google Shape;367;p21">
            <a:hlinkClick r:id="rId3"/>
          </p:cNvPr>
          <p:cNvSpPr/>
          <p:nvPr/>
        </p:nvSpPr>
        <p:spPr>
          <a:xfrm>
            <a:off x="438912"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8" name="Google Shape;368;p21"/>
          <p:cNvSpPr/>
          <p:nvPr/>
        </p:nvSpPr>
        <p:spPr>
          <a:xfrm>
            <a:off x="585216"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Demo video</a:t>
            </a:r>
            <a:endParaRPr sz="1050">
              <a:solidFill>
                <a:schemeClr val="dk1"/>
              </a:solidFill>
              <a:latin typeface="Arial"/>
              <a:ea typeface="Arial"/>
              <a:cs typeface="Arial"/>
              <a:sym typeface="Arial"/>
            </a:endParaRPr>
          </a:p>
        </p:txBody>
      </p:sp>
      <p:sp>
        <p:nvSpPr>
          <p:cNvPr id="369" name="Google Shape;369;p21"/>
          <p:cNvSpPr/>
          <p:nvPr/>
        </p:nvSpPr>
        <p:spPr>
          <a:xfrm>
            <a:off x="585216"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2–3 minute judge cut</a:t>
            </a:r>
            <a:endParaRPr sz="880">
              <a:solidFill>
                <a:schemeClr val="dk1"/>
              </a:solidFill>
              <a:latin typeface="Arial"/>
              <a:ea typeface="Arial"/>
              <a:cs typeface="Arial"/>
              <a:sym typeface="Arial"/>
            </a:endParaRPr>
          </a:p>
        </p:txBody>
      </p:sp>
      <p:sp>
        <p:nvSpPr>
          <p:cNvPr id="370" name="Google Shape;370;p21">
            <a:hlinkClick r:id="rId4"/>
          </p:cNvPr>
          <p:cNvSpPr/>
          <p:nvPr/>
        </p:nvSpPr>
        <p:spPr>
          <a:xfrm>
            <a:off x="4206240"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1" name="Google Shape;371;p21"/>
          <p:cNvSpPr/>
          <p:nvPr/>
        </p:nvSpPr>
        <p:spPr>
          <a:xfrm>
            <a:off x="4352544"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Final Submission Index</a:t>
            </a:r>
            <a:endParaRPr sz="1050">
              <a:solidFill>
                <a:schemeClr val="dk1"/>
              </a:solidFill>
              <a:latin typeface="Arial"/>
              <a:ea typeface="Arial"/>
              <a:cs typeface="Arial"/>
              <a:sym typeface="Arial"/>
            </a:endParaRPr>
          </a:p>
        </p:txBody>
      </p:sp>
      <p:sp>
        <p:nvSpPr>
          <p:cNvPr id="372" name="Google Shape;372;p21"/>
          <p:cNvSpPr/>
          <p:nvPr/>
        </p:nvSpPr>
        <p:spPr>
          <a:xfrm>
            <a:off x="4352544"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Judge navigation and artifact map</a:t>
            </a:r>
            <a:endParaRPr sz="880">
              <a:solidFill>
                <a:schemeClr val="dk1"/>
              </a:solidFill>
              <a:latin typeface="Arial"/>
              <a:ea typeface="Arial"/>
              <a:cs typeface="Arial"/>
              <a:sym typeface="Arial"/>
            </a:endParaRPr>
          </a:p>
        </p:txBody>
      </p:sp>
      <p:sp>
        <p:nvSpPr>
          <p:cNvPr id="373" name="Google Shape;373;p21">
            <a:hlinkClick r:id="rId5"/>
          </p:cNvPr>
          <p:cNvSpPr/>
          <p:nvPr/>
        </p:nvSpPr>
        <p:spPr>
          <a:xfrm>
            <a:off x="7973568"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4" name="Google Shape;374;p21"/>
          <p:cNvSpPr/>
          <p:nvPr/>
        </p:nvSpPr>
        <p:spPr>
          <a:xfrm>
            <a:off x="8119872"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Communication Source of Truth</a:t>
            </a:r>
            <a:endParaRPr sz="1050">
              <a:solidFill>
                <a:schemeClr val="dk1"/>
              </a:solidFill>
              <a:latin typeface="Arial"/>
              <a:ea typeface="Arial"/>
              <a:cs typeface="Arial"/>
              <a:sym typeface="Arial"/>
            </a:endParaRPr>
          </a:p>
        </p:txBody>
      </p:sp>
      <p:sp>
        <p:nvSpPr>
          <p:cNvPr id="375" name="Google Shape;375;p21"/>
          <p:cNvSpPr/>
          <p:nvPr/>
        </p:nvSpPr>
        <p:spPr>
          <a:xfrm>
            <a:off x="8119872"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Canonical claims and boundaries</a:t>
            </a:r>
            <a:endParaRPr sz="880">
              <a:solidFill>
                <a:schemeClr val="dk1"/>
              </a:solidFill>
              <a:latin typeface="Arial"/>
              <a:ea typeface="Arial"/>
              <a:cs typeface="Arial"/>
              <a:sym typeface="Arial"/>
            </a:endParaRPr>
          </a:p>
        </p:txBody>
      </p:sp>
      <p:sp>
        <p:nvSpPr>
          <p:cNvPr id="376" name="Google Shape;376;p21">
            <a:hlinkClick r:id="rId6"/>
          </p:cNvPr>
          <p:cNvSpPr/>
          <p:nvPr/>
        </p:nvSpPr>
        <p:spPr>
          <a:xfrm>
            <a:off x="438912"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7" name="Google Shape;377;p21"/>
          <p:cNvSpPr/>
          <p:nvPr/>
        </p:nvSpPr>
        <p:spPr>
          <a:xfrm>
            <a:off x="585216"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Live Kestrel Report</a:t>
            </a:r>
            <a:endParaRPr sz="1050">
              <a:solidFill>
                <a:schemeClr val="dk1"/>
              </a:solidFill>
              <a:latin typeface="Arial"/>
              <a:ea typeface="Arial"/>
              <a:cs typeface="Arial"/>
              <a:sym typeface="Arial"/>
            </a:endParaRPr>
          </a:p>
        </p:txBody>
      </p:sp>
      <p:sp>
        <p:nvSpPr>
          <p:cNvPr id="378" name="Google Shape;378;p21"/>
          <p:cNvSpPr/>
          <p:nvPr/>
        </p:nvSpPr>
        <p:spPr>
          <a:xfrm>
            <a:off x="585216"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Public assurance report</a:t>
            </a:r>
            <a:endParaRPr sz="880">
              <a:solidFill>
                <a:schemeClr val="dk1"/>
              </a:solidFill>
              <a:latin typeface="Arial"/>
              <a:ea typeface="Arial"/>
              <a:cs typeface="Arial"/>
              <a:sym typeface="Arial"/>
            </a:endParaRPr>
          </a:p>
        </p:txBody>
      </p:sp>
      <p:sp>
        <p:nvSpPr>
          <p:cNvPr id="379" name="Google Shape;379;p21">
            <a:hlinkClick r:id="rId7"/>
          </p:cNvPr>
          <p:cNvSpPr/>
          <p:nvPr/>
        </p:nvSpPr>
        <p:spPr>
          <a:xfrm>
            <a:off x="4206240"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0" name="Google Shape;380;p21"/>
          <p:cNvSpPr/>
          <p:nvPr/>
        </p:nvSpPr>
        <p:spPr>
          <a:xfrm>
            <a:off x="4352544"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Live System Consequence Map</a:t>
            </a:r>
            <a:endParaRPr sz="1050">
              <a:solidFill>
                <a:schemeClr val="dk1"/>
              </a:solidFill>
              <a:latin typeface="Arial"/>
              <a:ea typeface="Arial"/>
              <a:cs typeface="Arial"/>
              <a:sym typeface="Arial"/>
            </a:endParaRPr>
          </a:p>
        </p:txBody>
      </p:sp>
      <p:sp>
        <p:nvSpPr>
          <p:cNvPr id="381" name="Google Shape;381;p21"/>
          <p:cNvSpPr/>
          <p:nvPr/>
        </p:nvSpPr>
        <p:spPr>
          <a:xfrm>
            <a:off x="4352544"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Interactive action-path view</a:t>
            </a:r>
            <a:endParaRPr sz="880">
              <a:solidFill>
                <a:schemeClr val="dk1"/>
              </a:solidFill>
              <a:latin typeface="Arial"/>
              <a:ea typeface="Arial"/>
              <a:cs typeface="Arial"/>
              <a:sym typeface="Arial"/>
            </a:endParaRPr>
          </a:p>
        </p:txBody>
      </p:sp>
      <p:sp>
        <p:nvSpPr>
          <p:cNvPr id="382" name="Google Shape;382;p21">
            <a:hlinkClick r:id="rId8"/>
          </p:cNvPr>
          <p:cNvSpPr/>
          <p:nvPr/>
        </p:nvSpPr>
        <p:spPr>
          <a:xfrm>
            <a:off x="7973568"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3" name="Google Shape;383;p21"/>
          <p:cNvSpPr/>
          <p:nvPr/>
        </p:nvSpPr>
        <p:spPr>
          <a:xfrm>
            <a:off x="8119872"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MunichTech Repository</a:t>
            </a:r>
            <a:endParaRPr sz="1050">
              <a:solidFill>
                <a:schemeClr val="dk1"/>
              </a:solidFill>
              <a:latin typeface="Arial"/>
              <a:ea typeface="Arial"/>
              <a:cs typeface="Arial"/>
              <a:sym typeface="Arial"/>
            </a:endParaRPr>
          </a:p>
        </p:txBody>
      </p:sp>
      <p:sp>
        <p:nvSpPr>
          <p:cNvPr id="384" name="Google Shape;384;p21"/>
          <p:cNvSpPr/>
          <p:nvPr/>
        </p:nvSpPr>
        <p:spPr>
          <a:xfrm>
            <a:off x="8119872"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Public provenance and verifier files</a:t>
            </a:r>
            <a:endParaRPr sz="880">
              <a:solidFill>
                <a:schemeClr val="dk1"/>
              </a:solidFill>
              <a:latin typeface="Arial"/>
              <a:ea typeface="Arial"/>
              <a:cs typeface="Arial"/>
              <a:sym typeface="Arial"/>
            </a:endParaRPr>
          </a:p>
        </p:txBody>
      </p:sp>
      <p:sp>
        <p:nvSpPr>
          <p:cNvPr id="385" name="Google Shape;385;p21">
            <a:hlinkClick r:id="rId9"/>
          </p:cNvPr>
          <p:cNvSpPr/>
          <p:nvPr/>
        </p:nvSpPr>
        <p:spPr>
          <a:xfrm>
            <a:off x="438912" y="3346704"/>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6" name="Google Shape;386;p21"/>
          <p:cNvSpPr/>
          <p:nvPr/>
        </p:nvSpPr>
        <p:spPr>
          <a:xfrm>
            <a:off x="585216" y="3456432"/>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Kestrel Gold Evidence Pack</a:t>
            </a:r>
            <a:endParaRPr sz="1050">
              <a:solidFill>
                <a:schemeClr val="dk1"/>
              </a:solidFill>
              <a:latin typeface="Arial"/>
              <a:ea typeface="Arial"/>
              <a:cs typeface="Arial"/>
              <a:sym typeface="Arial"/>
            </a:endParaRPr>
          </a:p>
        </p:txBody>
      </p:sp>
      <p:sp>
        <p:nvSpPr>
          <p:cNvPr id="387" name="Google Shape;387;p21"/>
          <p:cNvSpPr/>
          <p:nvPr/>
        </p:nvSpPr>
        <p:spPr>
          <a:xfrm>
            <a:off x="585216" y="3657600"/>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Frozen baseline evidence pack</a:t>
            </a:r>
            <a:endParaRPr sz="880">
              <a:solidFill>
                <a:schemeClr val="dk1"/>
              </a:solidFill>
              <a:latin typeface="Arial"/>
              <a:ea typeface="Arial"/>
              <a:cs typeface="Arial"/>
              <a:sym typeface="Arial"/>
            </a:endParaRPr>
          </a:p>
        </p:txBody>
      </p:sp>
      <p:sp>
        <p:nvSpPr>
          <p:cNvPr id="388" name="Google Shape;388;p21">
            <a:hlinkClick r:id="rId10"/>
          </p:cNvPr>
          <p:cNvSpPr/>
          <p:nvPr/>
        </p:nvSpPr>
        <p:spPr>
          <a:xfrm>
            <a:off x="4206240" y="3346704"/>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9" name="Google Shape;389;p21"/>
          <p:cNvSpPr/>
          <p:nvPr/>
        </p:nvSpPr>
        <p:spPr>
          <a:xfrm>
            <a:off x="4352544" y="3456432"/>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A/B-8 Evidence Pack</a:t>
            </a:r>
            <a:endParaRPr sz="1050">
              <a:solidFill>
                <a:schemeClr val="dk1"/>
              </a:solidFill>
              <a:latin typeface="Arial"/>
              <a:ea typeface="Arial"/>
              <a:cs typeface="Arial"/>
              <a:sym typeface="Arial"/>
            </a:endParaRPr>
          </a:p>
        </p:txBody>
      </p:sp>
      <p:sp>
        <p:nvSpPr>
          <p:cNvPr id="390" name="Google Shape;390;p21"/>
          <p:cNvSpPr/>
          <p:nvPr/>
        </p:nvSpPr>
        <p:spPr>
          <a:xfrm>
            <a:off x="4352544" y="3657600"/>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Release-comparison proof</a:t>
            </a:r>
            <a:endParaRPr sz="880">
              <a:solidFill>
                <a:schemeClr val="dk1"/>
              </a:solidFill>
              <a:latin typeface="Arial"/>
              <a:ea typeface="Arial"/>
              <a:cs typeface="Arial"/>
              <a:sym typeface="Arial"/>
            </a:endParaRPr>
          </a:p>
        </p:txBody>
      </p:sp>
      <p:sp>
        <p:nvSpPr>
          <p:cNvPr id="391" name="Google Shape;391;p21">
            <a:hlinkClick r:id="rId11"/>
          </p:cNvPr>
          <p:cNvSpPr/>
          <p:nvPr/>
        </p:nvSpPr>
        <p:spPr>
          <a:xfrm>
            <a:off x="7973568" y="3346704"/>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2" name="Google Shape;392;p21"/>
          <p:cNvSpPr/>
          <p:nvPr/>
        </p:nvSpPr>
        <p:spPr>
          <a:xfrm>
            <a:off x="8119872" y="3456432"/>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Evidence Guide</a:t>
            </a:r>
            <a:endParaRPr sz="1050">
              <a:solidFill>
                <a:schemeClr val="dk1"/>
              </a:solidFill>
              <a:latin typeface="Arial"/>
              <a:ea typeface="Arial"/>
              <a:cs typeface="Arial"/>
              <a:sym typeface="Arial"/>
            </a:endParaRPr>
          </a:p>
        </p:txBody>
      </p:sp>
      <p:sp>
        <p:nvSpPr>
          <p:cNvPr id="393" name="Google Shape;393;p21"/>
          <p:cNvSpPr/>
          <p:nvPr/>
        </p:nvSpPr>
        <p:spPr>
          <a:xfrm>
            <a:off x="8119872" y="3657600"/>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Baseline + release comparison guide</a:t>
            </a:r>
            <a:endParaRPr sz="880">
              <a:solidFill>
                <a:schemeClr val="dk1"/>
              </a:solidFill>
              <a:latin typeface="Arial"/>
              <a:ea typeface="Arial"/>
              <a:cs typeface="Arial"/>
              <a:sym typeface="Arial"/>
            </a:endParaRPr>
          </a:p>
        </p:txBody>
      </p:sp>
      <p:sp>
        <p:nvSpPr>
          <p:cNvPr id="394" name="Google Shape;394;p21">
            <a:hlinkClick r:id="rId12"/>
          </p:cNvPr>
          <p:cNvSpPr/>
          <p:nvPr/>
        </p:nvSpPr>
        <p:spPr>
          <a:xfrm>
            <a:off x="438912" y="4059936"/>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5" name="Google Shape;395;p21"/>
          <p:cNvSpPr/>
          <p:nvPr/>
        </p:nvSpPr>
        <p:spPr>
          <a:xfrm>
            <a:off x="585216" y="4169664"/>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Hands-on Trial Guide</a:t>
            </a:r>
            <a:endParaRPr sz="1050">
              <a:solidFill>
                <a:schemeClr val="dk1"/>
              </a:solidFill>
              <a:latin typeface="Arial"/>
              <a:ea typeface="Arial"/>
              <a:cs typeface="Arial"/>
              <a:sym typeface="Arial"/>
            </a:endParaRPr>
          </a:p>
        </p:txBody>
      </p:sp>
      <p:sp>
        <p:nvSpPr>
          <p:cNvPr id="396" name="Google Shape;396;p21"/>
          <p:cNvSpPr/>
          <p:nvPr/>
        </p:nvSpPr>
        <p:spPr>
          <a:xfrm>
            <a:off x="585216" y="4370832"/>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Reviewer walkthrough</a:t>
            </a:r>
            <a:endParaRPr sz="880">
              <a:solidFill>
                <a:schemeClr val="dk1"/>
              </a:solidFill>
              <a:latin typeface="Arial"/>
              <a:ea typeface="Arial"/>
              <a:cs typeface="Arial"/>
              <a:sym typeface="Arial"/>
            </a:endParaRPr>
          </a:p>
        </p:txBody>
      </p:sp>
      <p:sp>
        <p:nvSpPr>
          <p:cNvPr id="397" name="Google Shape;397;p21">
            <a:hlinkClick r:id="rId13"/>
          </p:cNvPr>
          <p:cNvSpPr/>
          <p:nvPr/>
        </p:nvSpPr>
        <p:spPr>
          <a:xfrm>
            <a:off x="4206240" y="4059936"/>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8" name="Google Shape;398;p21">
            <a:hlinkClick r:id="rId14"/>
          </p:cNvPr>
          <p:cNvSpPr/>
          <p:nvPr/>
        </p:nvSpPr>
        <p:spPr>
          <a:xfrm>
            <a:off x="4352544" y="4169664"/>
            <a:ext cx="3310128" cy="146304"/>
          </a:xfrm>
          <a:prstGeom prst="rect">
            <a:avLst/>
          </a:prstGeom>
          <a:noFill/>
          <a:ln>
            <a:noFill/>
          </a:ln>
        </p:spPr>
        <p:txBody>
          <a:bodyPr anchorCtr="0" anchor="ctr" bIns="18275" lIns="18275" spcFirstLastPara="1" rIns="18275" wrap="square" tIns="18275">
            <a:normAutofit/>
          </a:bodyPr>
          <a:lstStyle/>
          <a:p>
            <a:pPr indent="0" lvl="0" marL="0" marR="0" rtl="0" algn="l">
              <a:spcBef>
                <a:spcPts val="0"/>
              </a:spcBef>
              <a:spcAft>
                <a:spcPts val="0"/>
              </a:spcAft>
              <a:buNone/>
            </a:pPr>
            <a:r>
              <a:rPr b="1" lang="en-US" sz="950">
                <a:solidFill>
                  <a:srgbClr val="006944"/>
                </a:solidFill>
                <a:latin typeface="Arial"/>
                <a:ea typeface="Arial"/>
                <a:cs typeface="Arial"/>
                <a:sym typeface="Arial"/>
              </a:rPr>
              <a:t>Complete Technical Deck</a:t>
            </a:r>
            <a:endParaRPr/>
          </a:p>
        </p:txBody>
      </p:sp>
      <p:sp>
        <p:nvSpPr>
          <p:cNvPr id="399" name="Google Shape;399;p21">
            <a:hlinkClick r:id="rId15"/>
          </p:cNvPr>
          <p:cNvSpPr/>
          <p:nvPr/>
        </p:nvSpPr>
        <p:spPr>
          <a:xfrm>
            <a:off x="4352544" y="4370832"/>
            <a:ext cx="3310128" cy="155448"/>
          </a:xfrm>
          <a:prstGeom prst="rect">
            <a:avLst/>
          </a:prstGeom>
          <a:noFill/>
          <a:ln>
            <a:noFill/>
          </a:ln>
        </p:spPr>
        <p:txBody>
          <a:bodyPr anchorCtr="0" anchor="ctr" bIns="18275" lIns="18275" spcFirstLastPara="1" rIns="18275" wrap="square" tIns="18275">
            <a:normAutofit/>
          </a:bodyPr>
          <a:lstStyle/>
          <a:p>
            <a:pPr indent="0" lvl="0" marL="0" marR="0" rtl="0" algn="l">
              <a:spcBef>
                <a:spcPts val="0"/>
              </a:spcBef>
              <a:spcAft>
                <a:spcPts val="0"/>
              </a:spcAft>
              <a:buNone/>
            </a:pPr>
            <a:r>
              <a:rPr lang="en-US" sz="850">
                <a:solidFill>
                  <a:srgbClr val="5D6C65"/>
                </a:solidFill>
                <a:latin typeface="Arial"/>
                <a:ea typeface="Arial"/>
                <a:cs typeface="Arial"/>
                <a:sym typeface="Arial"/>
              </a:rPr>
              <a:t>60-page technical evaluation deck</a:t>
            </a:r>
            <a:endParaRPr/>
          </a:p>
        </p:txBody>
      </p:sp>
      <p:sp>
        <p:nvSpPr>
          <p:cNvPr id="400" name="Google Shape;400;p21">
            <a:hlinkClick r:id="rId16"/>
          </p:cNvPr>
          <p:cNvSpPr/>
          <p:nvPr/>
        </p:nvSpPr>
        <p:spPr>
          <a:xfrm>
            <a:off x="7973568" y="4059936"/>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1" name="Google Shape;401;p21"/>
          <p:cNvSpPr/>
          <p:nvPr/>
        </p:nvSpPr>
        <p:spPr>
          <a:xfrm>
            <a:off x="8119872" y="4169664"/>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Judge Scoring Map</a:t>
            </a:r>
            <a:endParaRPr sz="1050">
              <a:solidFill>
                <a:schemeClr val="dk1"/>
              </a:solidFill>
              <a:latin typeface="Arial"/>
              <a:ea typeface="Arial"/>
              <a:cs typeface="Arial"/>
              <a:sym typeface="Arial"/>
            </a:endParaRPr>
          </a:p>
        </p:txBody>
      </p:sp>
      <p:sp>
        <p:nvSpPr>
          <p:cNvPr id="402" name="Google Shape;402;p21"/>
          <p:cNvSpPr/>
          <p:nvPr/>
        </p:nvSpPr>
        <p:spPr>
          <a:xfrm>
            <a:off x="8119872" y="4370832"/>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Rubric-to-evidence alignment</a:t>
            </a:r>
            <a:endParaRPr sz="880">
              <a:solidFill>
                <a:schemeClr val="dk1"/>
              </a:solidFill>
              <a:latin typeface="Arial"/>
              <a:ea typeface="Arial"/>
              <a:cs typeface="Arial"/>
              <a:sym typeface="Arial"/>
            </a:endParaRPr>
          </a:p>
        </p:txBody>
      </p:sp>
      <p:sp>
        <p:nvSpPr>
          <p:cNvPr id="403" name="Google Shape;403;p21"/>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04" name="Google Shape;404;p21"/>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409" name="Shape 409"/>
        <p:cNvGrpSpPr/>
        <p:nvPr/>
      </p:nvGrpSpPr>
      <p:grpSpPr>
        <a:xfrm>
          <a:off x="0" y="0"/>
          <a:ext cx="0" cy="0"/>
          <a:chOff x="0" y="0"/>
          <a:chExt cx="0" cy="0"/>
        </a:xfrm>
      </p:grpSpPr>
      <p:sp>
        <p:nvSpPr>
          <p:cNvPr id="410" name="Google Shape;410;p22"/>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1" name="Google Shape;411;p22"/>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412" name="Google Shape;412;p22"/>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22</a:t>
            </a:r>
            <a:endParaRPr/>
          </a:p>
        </p:txBody>
      </p:sp>
      <p:sp>
        <p:nvSpPr>
          <p:cNvPr id="413" name="Google Shape;413;p22"/>
          <p:cNvSpPr/>
          <p:nvPr/>
        </p:nvSpPr>
        <p:spPr>
          <a:xfrm>
            <a:off x="438912" y="786384"/>
            <a:ext cx="2834640" cy="16459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900"/>
              <a:buFont typeface="Arial"/>
              <a:buNone/>
            </a:pPr>
            <a:r>
              <a:rPr b="1" lang="en-US" sz="900">
                <a:solidFill>
                  <a:srgbClr val="0E6B4A"/>
                </a:solidFill>
                <a:latin typeface="Arial"/>
                <a:ea typeface="Arial"/>
                <a:cs typeface="Arial"/>
                <a:sym typeface="Arial"/>
              </a:rPr>
              <a:t>EVIDENCE IMAGES</a:t>
            </a:r>
            <a:endParaRPr sz="900">
              <a:solidFill>
                <a:schemeClr val="dk1"/>
              </a:solidFill>
              <a:latin typeface="Arial"/>
              <a:ea typeface="Arial"/>
              <a:cs typeface="Arial"/>
              <a:sym typeface="Arial"/>
            </a:endParaRPr>
          </a:p>
        </p:txBody>
      </p:sp>
      <p:sp>
        <p:nvSpPr>
          <p:cNvPr id="414" name="Google Shape;414;p22"/>
          <p:cNvSpPr/>
          <p:nvPr/>
        </p:nvSpPr>
        <p:spPr>
          <a:xfrm>
            <a:off x="438912" y="1005840"/>
            <a:ext cx="7223760" cy="3840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4201C"/>
              </a:buClr>
              <a:buSzPts val="2700"/>
              <a:buFont typeface="Georgia"/>
              <a:buNone/>
            </a:pPr>
            <a:r>
              <a:rPr b="1" lang="en-US" sz="2700">
                <a:solidFill>
                  <a:srgbClr val="14201C"/>
                </a:solidFill>
                <a:latin typeface="Georgia"/>
                <a:ea typeface="Georgia"/>
                <a:cs typeface="Georgia"/>
                <a:sym typeface="Georgia"/>
              </a:rPr>
              <a:t>Baseline evidence image index.</a:t>
            </a:r>
            <a:endParaRPr sz="2700">
              <a:solidFill>
                <a:schemeClr val="dk1"/>
              </a:solidFill>
              <a:latin typeface="Arial"/>
              <a:ea typeface="Arial"/>
              <a:cs typeface="Arial"/>
              <a:sym typeface="Arial"/>
            </a:endParaRPr>
          </a:p>
        </p:txBody>
      </p:sp>
      <p:sp>
        <p:nvSpPr>
          <p:cNvPr id="415" name="Google Shape;415;p22"/>
          <p:cNvSpPr/>
          <p:nvPr/>
        </p:nvSpPr>
        <p:spPr>
          <a:xfrm>
            <a:off x="438912" y="1481328"/>
            <a:ext cx="9875520" cy="27432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374741"/>
              </a:buClr>
              <a:buSzPts val="1260"/>
              <a:buFont typeface="Arial"/>
              <a:buNone/>
            </a:pPr>
            <a:r>
              <a:rPr lang="en-US" sz="1260">
                <a:solidFill>
                  <a:srgbClr val="374741"/>
                </a:solidFill>
                <a:latin typeface="Arial"/>
                <a:ea typeface="Arial"/>
                <a:cs typeface="Arial"/>
                <a:sym typeface="Arial"/>
              </a:rPr>
              <a:t>Visual evidence for the frozen Kestrel baseline: decision, coverage, system identity, consequence path and report views.</a:t>
            </a:r>
            <a:endParaRPr sz="1260">
              <a:solidFill>
                <a:schemeClr val="dk1"/>
              </a:solidFill>
              <a:latin typeface="Arial"/>
              <a:ea typeface="Arial"/>
              <a:cs typeface="Arial"/>
              <a:sym typeface="Arial"/>
            </a:endParaRPr>
          </a:p>
        </p:txBody>
      </p:sp>
      <p:sp>
        <p:nvSpPr>
          <p:cNvPr id="416" name="Google Shape;416;p22">
            <a:hlinkClick r:id="rId3"/>
          </p:cNvPr>
          <p:cNvSpPr/>
          <p:nvPr/>
        </p:nvSpPr>
        <p:spPr>
          <a:xfrm>
            <a:off x="438912"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7" name="Google Shape;417;p22"/>
          <p:cNvSpPr/>
          <p:nvPr/>
        </p:nvSpPr>
        <p:spPr>
          <a:xfrm>
            <a:off x="585216"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Assurance Decision</a:t>
            </a:r>
            <a:endParaRPr sz="1050">
              <a:solidFill>
                <a:schemeClr val="dk1"/>
              </a:solidFill>
              <a:latin typeface="Arial"/>
              <a:ea typeface="Arial"/>
              <a:cs typeface="Arial"/>
              <a:sym typeface="Arial"/>
            </a:endParaRPr>
          </a:p>
        </p:txBody>
      </p:sp>
      <p:sp>
        <p:nvSpPr>
          <p:cNvPr id="418" name="Google Shape;418;p22"/>
          <p:cNvSpPr/>
          <p:nvPr/>
        </p:nvSpPr>
        <p:spPr>
          <a:xfrm>
            <a:off x="585216"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Baseline decision / REVIEW</a:t>
            </a:r>
            <a:endParaRPr sz="880">
              <a:solidFill>
                <a:schemeClr val="dk1"/>
              </a:solidFill>
              <a:latin typeface="Arial"/>
              <a:ea typeface="Arial"/>
              <a:cs typeface="Arial"/>
              <a:sym typeface="Arial"/>
            </a:endParaRPr>
          </a:p>
        </p:txBody>
      </p:sp>
      <p:sp>
        <p:nvSpPr>
          <p:cNvPr id="419" name="Google Shape;419;p22">
            <a:hlinkClick r:id="rId4"/>
          </p:cNvPr>
          <p:cNvSpPr/>
          <p:nvPr/>
        </p:nvSpPr>
        <p:spPr>
          <a:xfrm>
            <a:off x="4206240"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0" name="Google Shape;420;p22"/>
          <p:cNvSpPr/>
          <p:nvPr/>
        </p:nvSpPr>
        <p:spPr>
          <a:xfrm>
            <a:off x="4352544"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What HAIEC Checked</a:t>
            </a:r>
            <a:endParaRPr sz="1050">
              <a:solidFill>
                <a:schemeClr val="dk1"/>
              </a:solidFill>
              <a:latin typeface="Arial"/>
              <a:ea typeface="Arial"/>
              <a:cs typeface="Arial"/>
              <a:sym typeface="Arial"/>
            </a:endParaRPr>
          </a:p>
        </p:txBody>
      </p:sp>
      <p:sp>
        <p:nvSpPr>
          <p:cNvPr id="421" name="Google Shape;421;p22"/>
          <p:cNvSpPr/>
          <p:nvPr/>
        </p:nvSpPr>
        <p:spPr>
          <a:xfrm>
            <a:off x="4352544"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Coverage / 32 deterministic checks</a:t>
            </a:r>
            <a:endParaRPr sz="880">
              <a:solidFill>
                <a:schemeClr val="dk1"/>
              </a:solidFill>
              <a:latin typeface="Arial"/>
              <a:ea typeface="Arial"/>
              <a:cs typeface="Arial"/>
              <a:sym typeface="Arial"/>
            </a:endParaRPr>
          </a:p>
        </p:txBody>
      </p:sp>
      <p:sp>
        <p:nvSpPr>
          <p:cNvPr id="422" name="Google Shape;422;p22">
            <a:hlinkClick r:id="rId5"/>
          </p:cNvPr>
          <p:cNvSpPr/>
          <p:nvPr/>
        </p:nvSpPr>
        <p:spPr>
          <a:xfrm>
            <a:off x="7973568"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3" name="Google Shape;423;p22"/>
          <p:cNvSpPr/>
          <p:nvPr/>
        </p:nvSpPr>
        <p:spPr>
          <a:xfrm>
            <a:off x="8119872"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System Profile</a:t>
            </a:r>
            <a:endParaRPr sz="1050">
              <a:solidFill>
                <a:schemeClr val="dk1"/>
              </a:solidFill>
              <a:latin typeface="Arial"/>
              <a:ea typeface="Arial"/>
              <a:cs typeface="Arial"/>
              <a:sym typeface="Arial"/>
            </a:endParaRPr>
          </a:p>
        </p:txBody>
      </p:sp>
      <p:sp>
        <p:nvSpPr>
          <p:cNvPr id="424" name="Google Shape;424;p22"/>
          <p:cNvSpPr/>
          <p:nvPr/>
        </p:nvSpPr>
        <p:spPr>
          <a:xfrm>
            <a:off x="8119872"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Frozen system and evaluation identity</a:t>
            </a:r>
            <a:endParaRPr sz="880">
              <a:solidFill>
                <a:schemeClr val="dk1"/>
              </a:solidFill>
              <a:latin typeface="Arial"/>
              <a:ea typeface="Arial"/>
              <a:cs typeface="Arial"/>
              <a:sym typeface="Arial"/>
            </a:endParaRPr>
          </a:p>
        </p:txBody>
      </p:sp>
      <p:sp>
        <p:nvSpPr>
          <p:cNvPr id="425" name="Google Shape;425;p22">
            <a:hlinkClick r:id="rId6"/>
          </p:cNvPr>
          <p:cNvSpPr/>
          <p:nvPr/>
        </p:nvSpPr>
        <p:spPr>
          <a:xfrm>
            <a:off x="438912"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6" name="Google Shape;426;p22"/>
          <p:cNvSpPr/>
          <p:nvPr/>
        </p:nvSpPr>
        <p:spPr>
          <a:xfrm>
            <a:off x="585216"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ORDER RECORD WRITE</a:t>
            </a:r>
            <a:endParaRPr sz="1050">
              <a:solidFill>
                <a:schemeClr val="dk1"/>
              </a:solidFill>
              <a:latin typeface="Arial"/>
              <a:ea typeface="Arial"/>
              <a:cs typeface="Arial"/>
              <a:sym typeface="Arial"/>
            </a:endParaRPr>
          </a:p>
        </p:txBody>
      </p:sp>
      <p:sp>
        <p:nvSpPr>
          <p:cNvPr id="427" name="Google Shape;427;p22"/>
          <p:cNvSpPr/>
          <p:nvPr/>
        </p:nvSpPr>
        <p:spPr>
          <a:xfrm>
            <a:off x="585216"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Focused consequence path</a:t>
            </a:r>
            <a:endParaRPr sz="880">
              <a:solidFill>
                <a:schemeClr val="dk1"/>
              </a:solidFill>
              <a:latin typeface="Arial"/>
              <a:ea typeface="Arial"/>
              <a:cs typeface="Arial"/>
              <a:sym typeface="Arial"/>
            </a:endParaRPr>
          </a:p>
        </p:txBody>
      </p:sp>
      <p:sp>
        <p:nvSpPr>
          <p:cNvPr id="428" name="Google Shape;428;p22">
            <a:hlinkClick r:id="rId7"/>
          </p:cNvPr>
          <p:cNvSpPr/>
          <p:nvPr/>
        </p:nvSpPr>
        <p:spPr>
          <a:xfrm>
            <a:off x="4206240"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9" name="Google Shape;429;p22"/>
          <p:cNvSpPr/>
          <p:nvPr/>
        </p:nvSpPr>
        <p:spPr>
          <a:xfrm>
            <a:off x="4352544"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Action Proof</a:t>
            </a:r>
            <a:endParaRPr sz="1050">
              <a:solidFill>
                <a:schemeClr val="dk1"/>
              </a:solidFill>
              <a:latin typeface="Arial"/>
              <a:ea typeface="Arial"/>
              <a:cs typeface="Arial"/>
              <a:sym typeface="Arial"/>
            </a:endParaRPr>
          </a:p>
        </p:txBody>
      </p:sp>
      <p:sp>
        <p:nvSpPr>
          <p:cNvPr id="430" name="Google Shape;430;p22"/>
          <p:cNvSpPr/>
          <p:nvPr/>
        </p:nvSpPr>
        <p:spPr>
          <a:xfrm>
            <a:off x="4352544"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Path and evidence planes</a:t>
            </a:r>
            <a:endParaRPr sz="880">
              <a:solidFill>
                <a:schemeClr val="dk1"/>
              </a:solidFill>
              <a:latin typeface="Arial"/>
              <a:ea typeface="Arial"/>
              <a:cs typeface="Arial"/>
              <a:sym typeface="Arial"/>
            </a:endParaRPr>
          </a:p>
        </p:txBody>
      </p:sp>
      <p:sp>
        <p:nvSpPr>
          <p:cNvPr id="431" name="Google Shape;431;p22">
            <a:hlinkClick r:id="rId8"/>
          </p:cNvPr>
          <p:cNvSpPr/>
          <p:nvPr/>
        </p:nvSpPr>
        <p:spPr>
          <a:xfrm>
            <a:off x="7973568"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2" name="Google Shape;432;p22"/>
          <p:cNvSpPr/>
          <p:nvPr/>
        </p:nvSpPr>
        <p:spPr>
          <a:xfrm>
            <a:off x="8119872"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Executive Report</a:t>
            </a:r>
            <a:endParaRPr sz="1050">
              <a:solidFill>
                <a:schemeClr val="dk1"/>
              </a:solidFill>
              <a:latin typeface="Arial"/>
              <a:ea typeface="Arial"/>
              <a:cs typeface="Arial"/>
              <a:sym typeface="Arial"/>
            </a:endParaRPr>
          </a:p>
        </p:txBody>
      </p:sp>
      <p:sp>
        <p:nvSpPr>
          <p:cNvPr id="433" name="Google Shape;433;p22"/>
          <p:cNvSpPr/>
          <p:nvPr/>
        </p:nvSpPr>
        <p:spPr>
          <a:xfrm>
            <a:off x="8119872"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Executive decision projection</a:t>
            </a:r>
            <a:endParaRPr sz="880">
              <a:solidFill>
                <a:schemeClr val="dk1"/>
              </a:solidFill>
              <a:latin typeface="Arial"/>
              <a:ea typeface="Arial"/>
              <a:cs typeface="Arial"/>
              <a:sym typeface="Arial"/>
            </a:endParaRPr>
          </a:p>
        </p:txBody>
      </p:sp>
      <p:sp>
        <p:nvSpPr>
          <p:cNvPr id="434" name="Google Shape;434;p22">
            <a:hlinkClick r:id="rId9"/>
          </p:cNvPr>
          <p:cNvSpPr/>
          <p:nvPr/>
        </p:nvSpPr>
        <p:spPr>
          <a:xfrm>
            <a:off x="438912" y="3346704"/>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5" name="Google Shape;435;p22"/>
          <p:cNvSpPr/>
          <p:nvPr/>
        </p:nvSpPr>
        <p:spPr>
          <a:xfrm>
            <a:off x="585216" y="3456432"/>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Technical Report</a:t>
            </a:r>
            <a:endParaRPr sz="1050">
              <a:solidFill>
                <a:schemeClr val="dk1"/>
              </a:solidFill>
              <a:latin typeface="Arial"/>
              <a:ea typeface="Arial"/>
              <a:cs typeface="Arial"/>
              <a:sym typeface="Arial"/>
            </a:endParaRPr>
          </a:p>
        </p:txBody>
      </p:sp>
      <p:sp>
        <p:nvSpPr>
          <p:cNvPr id="436" name="Google Shape;436;p22"/>
          <p:cNvSpPr/>
          <p:nvPr/>
        </p:nvSpPr>
        <p:spPr>
          <a:xfrm>
            <a:off x="585216" y="3657600"/>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Technical assurance coverage</a:t>
            </a:r>
            <a:endParaRPr sz="880">
              <a:solidFill>
                <a:schemeClr val="dk1"/>
              </a:solidFill>
              <a:latin typeface="Arial"/>
              <a:ea typeface="Arial"/>
              <a:cs typeface="Arial"/>
              <a:sym typeface="Arial"/>
            </a:endParaRPr>
          </a:p>
        </p:txBody>
      </p:sp>
      <p:sp>
        <p:nvSpPr>
          <p:cNvPr id="437" name="Google Shape;437;p22">
            <a:hlinkClick r:id="rId10"/>
          </p:cNvPr>
          <p:cNvSpPr/>
          <p:nvPr/>
        </p:nvSpPr>
        <p:spPr>
          <a:xfrm>
            <a:off x="4206240" y="3346704"/>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8" name="Google Shape;438;p22"/>
          <p:cNvSpPr/>
          <p:nvPr/>
        </p:nvSpPr>
        <p:spPr>
          <a:xfrm>
            <a:off x="4352544" y="3456432"/>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Auditor Report</a:t>
            </a:r>
            <a:endParaRPr sz="1050">
              <a:solidFill>
                <a:schemeClr val="dk1"/>
              </a:solidFill>
              <a:latin typeface="Arial"/>
              <a:ea typeface="Arial"/>
              <a:cs typeface="Arial"/>
              <a:sym typeface="Arial"/>
            </a:endParaRPr>
          </a:p>
        </p:txBody>
      </p:sp>
      <p:sp>
        <p:nvSpPr>
          <p:cNvPr id="439" name="Google Shape;439;p22"/>
          <p:cNvSpPr/>
          <p:nvPr/>
        </p:nvSpPr>
        <p:spPr>
          <a:xfrm>
            <a:off x="4352544" y="3657600"/>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Provenance / digest view</a:t>
            </a:r>
            <a:endParaRPr sz="880">
              <a:solidFill>
                <a:schemeClr val="dk1"/>
              </a:solidFill>
              <a:latin typeface="Arial"/>
              <a:ea typeface="Arial"/>
              <a:cs typeface="Arial"/>
              <a:sym typeface="Arial"/>
            </a:endParaRPr>
          </a:p>
        </p:txBody>
      </p:sp>
      <p:sp>
        <p:nvSpPr>
          <p:cNvPr id="440" name="Google Shape;440;p22"/>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41" name="Google Shape;441;p22"/>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446" name="Shape 446"/>
        <p:cNvGrpSpPr/>
        <p:nvPr/>
      </p:nvGrpSpPr>
      <p:grpSpPr>
        <a:xfrm>
          <a:off x="0" y="0"/>
          <a:ext cx="0" cy="0"/>
          <a:chOff x="0" y="0"/>
          <a:chExt cx="0" cy="0"/>
        </a:xfrm>
      </p:grpSpPr>
      <p:sp>
        <p:nvSpPr>
          <p:cNvPr id="447" name="Google Shape;447;p23"/>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8" name="Google Shape;448;p23"/>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449" name="Google Shape;449;p23"/>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23</a:t>
            </a:r>
            <a:endParaRPr/>
          </a:p>
        </p:txBody>
      </p:sp>
      <p:sp>
        <p:nvSpPr>
          <p:cNvPr id="450" name="Google Shape;450;p23"/>
          <p:cNvSpPr/>
          <p:nvPr/>
        </p:nvSpPr>
        <p:spPr>
          <a:xfrm>
            <a:off x="438912" y="786384"/>
            <a:ext cx="2834640" cy="16459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900"/>
              <a:buFont typeface="Arial"/>
              <a:buNone/>
            </a:pPr>
            <a:r>
              <a:rPr b="1" lang="en-US" sz="900">
                <a:solidFill>
                  <a:srgbClr val="0E6B4A"/>
                </a:solidFill>
                <a:latin typeface="Arial"/>
                <a:ea typeface="Arial"/>
                <a:cs typeface="Arial"/>
                <a:sym typeface="Arial"/>
              </a:rPr>
              <a:t>RELEASE COMPARISON</a:t>
            </a:r>
            <a:endParaRPr sz="900">
              <a:solidFill>
                <a:schemeClr val="dk1"/>
              </a:solidFill>
              <a:latin typeface="Arial"/>
              <a:ea typeface="Arial"/>
              <a:cs typeface="Arial"/>
              <a:sym typeface="Arial"/>
            </a:endParaRPr>
          </a:p>
        </p:txBody>
      </p:sp>
      <p:sp>
        <p:nvSpPr>
          <p:cNvPr id="451" name="Google Shape;451;p23"/>
          <p:cNvSpPr/>
          <p:nvPr/>
        </p:nvSpPr>
        <p:spPr>
          <a:xfrm>
            <a:off x="438912" y="1005840"/>
            <a:ext cx="7223760" cy="3840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4201C"/>
              </a:buClr>
              <a:buSzPts val="2700"/>
              <a:buFont typeface="Georgia"/>
              <a:buNone/>
            </a:pPr>
            <a:r>
              <a:rPr b="1" lang="en-US" sz="2700">
                <a:solidFill>
                  <a:srgbClr val="14201C"/>
                </a:solidFill>
                <a:latin typeface="Georgia"/>
                <a:ea typeface="Georgia"/>
                <a:cs typeface="Georgia"/>
                <a:sym typeface="Georgia"/>
              </a:rPr>
              <a:t>A/B release-comparison evidence index.</a:t>
            </a:r>
            <a:endParaRPr sz="2700">
              <a:solidFill>
                <a:schemeClr val="dk1"/>
              </a:solidFill>
              <a:latin typeface="Arial"/>
              <a:ea typeface="Arial"/>
              <a:cs typeface="Arial"/>
              <a:sym typeface="Arial"/>
            </a:endParaRPr>
          </a:p>
        </p:txBody>
      </p:sp>
      <p:sp>
        <p:nvSpPr>
          <p:cNvPr id="452" name="Google Shape;452;p23"/>
          <p:cNvSpPr/>
          <p:nvPr/>
        </p:nvSpPr>
        <p:spPr>
          <a:xfrm>
            <a:off x="438912" y="1481328"/>
            <a:ext cx="9875520" cy="27432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374741"/>
              </a:buClr>
              <a:buSzPts val="1260"/>
              <a:buFont typeface="Arial"/>
              <a:buNone/>
            </a:pPr>
            <a:r>
              <a:rPr lang="en-US" sz="1260">
                <a:solidFill>
                  <a:srgbClr val="374741"/>
                </a:solidFill>
                <a:latin typeface="Arial"/>
                <a:ea typeface="Arial"/>
                <a:cs typeface="Arial"/>
                <a:sym typeface="Arial"/>
              </a:rPr>
              <a:t>Direct links to release-comparison screenshots, control-change proof, unresolved-boundary evidence and portable evidence views.</a:t>
            </a:r>
            <a:endParaRPr sz="1260">
              <a:solidFill>
                <a:schemeClr val="dk1"/>
              </a:solidFill>
              <a:latin typeface="Arial"/>
              <a:ea typeface="Arial"/>
              <a:cs typeface="Arial"/>
              <a:sym typeface="Arial"/>
            </a:endParaRPr>
          </a:p>
        </p:txBody>
      </p:sp>
      <p:sp>
        <p:nvSpPr>
          <p:cNvPr id="453" name="Google Shape;453;p23">
            <a:hlinkClick r:id="rId3"/>
          </p:cNvPr>
          <p:cNvSpPr/>
          <p:nvPr/>
        </p:nvSpPr>
        <p:spPr>
          <a:xfrm>
            <a:off x="438912"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4" name="Google Shape;454;p23"/>
          <p:cNvSpPr/>
          <p:nvPr/>
        </p:nvSpPr>
        <p:spPr>
          <a:xfrm>
            <a:off x="585216"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A/B Selectors</a:t>
            </a:r>
            <a:endParaRPr sz="1050">
              <a:solidFill>
                <a:schemeClr val="dk1"/>
              </a:solidFill>
              <a:latin typeface="Arial"/>
              <a:ea typeface="Arial"/>
              <a:cs typeface="Arial"/>
              <a:sym typeface="Arial"/>
            </a:endParaRPr>
          </a:p>
        </p:txBody>
      </p:sp>
      <p:sp>
        <p:nvSpPr>
          <p:cNvPr id="455" name="Google Shape;455;p23"/>
          <p:cNvSpPr/>
          <p:nvPr/>
        </p:nvSpPr>
        <p:spPr>
          <a:xfrm>
            <a:off x="585216"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Release A and Release B selected</a:t>
            </a:r>
            <a:endParaRPr sz="880">
              <a:solidFill>
                <a:schemeClr val="dk1"/>
              </a:solidFill>
              <a:latin typeface="Arial"/>
              <a:ea typeface="Arial"/>
              <a:cs typeface="Arial"/>
              <a:sym typeface="Arial"/>
            </a:endParaRPr>
          </a:p>
        </p:txBody>
      </p:sp>
      <p:sp>
        <p:nvSpPr>
          <p:cNvPr id="456" name="Google Shape;456;p23">
            <a:hlinkClick r:id="rId4"/>
          </p:cNvPr>
          <p:cNvSpPr/>
          <p:nvPr/>
        </p:nvSpPr>
        <p:spPr>
          <a:xfrm>
            <a:off x="4206240"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7" name="Google Shape;457;p23"/>
          <p:cNvSpPr/>
          <p:nvPr/>
        </p:nvSpPr>
        <p:spPr>
          <a:xfrm>
            <a:off x="4352544"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CONTROL_CHANGED</a:t>
            </a:r>
            <a:endParaRPr sz="1050">
              <a:solidFill>
                <a:schemeClr val="dk1"/>
              </a:solidFill>
              <a:latin typeface="Arial"/>
              <a:ea typeface="Arial"/>
              <a:cs typeface="Arial"/>
              <a:sym typeface="Arial"/>
            </a:endParaRPr>
          </a:p>
        </p:txBody>
      </p:sp>
      <p:sp>
        <p:nvSpPr>
          <p:cNvPr id="458" name="Google Shape;458;p23"/>
          <p:cNvSpPr/>
          <p:nvPr/>
        </p:nvSpPr>
        <p:spPr>
          <a:xfrm>
            <a:off x="4352544"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12 established control changes</a:t>
            </a:r>
            <a:endParaRPr sz="880">
              <a:solidFill>
                <a:schemeClr val="dk1"/>
              </a:solidFill>
              <a:latin typeface="Arial"/>
              <a:ea typeface="Arial"/>
              <a:cs typeface="Arial"/>
              <a:sym typeface="Arial"/>
            </a:endParaRPr>
          </a:p>
        </p:txBody>
      </p:sp>
      <p:sp>
        <p:nvSpPr>
          <p:cNvPr id="459" name="Google Shape;459;p23">
            <a:hlinkClick r:id="rId5"/>
          </p:cNvPr>
          <p:cNvSpPr/>
          <p:nvPr/>
        </p:nvSpPr>
        <p:spPr>
          <a:xfrm>
            <a:off x="7973568"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0" name="Google Shape;460;p23"/>
          <p:cNvSpPr/>
          <p:nvPr/>
        </p:nvSpPr>
        <p:spPr>
          <a:xfrm>
            <a:off x="8119872"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Focused Changed Path</a:t>
            </a:r>
            <a:endParaRPr sz="1050">
              <a:solidFill>
                <a:schemeClr val="dk1"/>
              </a:solidFill>
              <a:latin typeface="Arial"/>
              <a:ea typeface="Arial"/>
              <a:cs typeface="Arial"/>
              <a:sym typeface="Arial"/>
            </a:endParaRPr>
          </a:p>
        </p:txBody>
      </p:sp>
      <p:sp>
        <p:nvSpPr>
          <p:cNvPr id="461" name="Google Shape;461;p23"/>
          <p:cNvSpPr/>
          <p:nvPr/>
        </p:nvSpPr>
        <p:spPr>
          <a:xfrm>
            <a:off x="8119872"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Release-comparison path focus</a:t>
            </a:r>
            <a:endParaRPr sz="880">
              <a:solidFill>
                <a:schemeClr val="dk1"/>
              </a:solidFill>
              <a:latin typeface="Arial"/>
              <a:ea typeface="Arial"/>
              <a:cs typeface="Arial"/>
              <a:sym typeface="Arial"/>
            </a:endParaRPr>
          </a:p>
        </p:txBody>
      </p:sp>
      <p:sp>
        <p:nvSpPr>
          <p:cNvPr id="462" name="Google Shape;462;p23">
            <a:hlinkClick r:id="rId6"/>
          </p:cNvPr>
          <p:cNvSpPr/>
          <p:nvPr/>
        </p:nvSpPr>
        <p:spPr>
          <a:xfrm>
            <a:off x="438912"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3" name="Google Shape;463;p23"/>
          <p:cNvSpPr/>
          <p:nvPr/>
        </p:nvSpPr>
        <p:spPr>
          <a:xfrm>
            <a:off x="585216"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UNRESOLVED ≠ ABSENT</a:t>
            </a:r>
            <a:endParaRPr sz="1050">
              <a:solidFill>
                <a:schemeClr val="dk1"/>
              </a:solidFill>
              <a:latin typeface="Arial"/>
              <a:ea typeface="Arial"/>
              <a:cs typeface="Arial"/>
              <a:sym typeface="Arial"/>
            </a:endParaRPr>
          </a:p>
        </p:txBody>
      </p:sp>
      <p:sp>
        <p:nvSpPr>
          <p:cNvPr id="464" name="Google Shape;464;p23"/>
          <p:cNvSpPr/>
          <p:nvPr/>
        </p:nvSpPr>
        <p:spPr>
          <a:xfrm>
            <a:off x="585216"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Evidence-bound absence semantics</a:t>
            </a:r>
            <a:endParaRPr sz="880">
              <a:solidFill>
                <a:schemeClr val="dk1"/>
              </a:solidFill>
              <a:latin typeface="Arial"/>
              <a:ea typeface="Arial"/>
              <a:cs typeface="Arial"/>
              <a:sym typeface="Arial"/>
            </a:endParaRPr>
          </a:p>
        </p:txBody>
      </p:sp>
      <p:sp>
        <p:nvSpPr>
          <p:cNvPr id="465" name="Google Shape;465;p23">
            <a:hlinkClick r:id="rId7"/>
          </p:cNvPr>
          <p:cNvSpPr/>
          <p:nvPr/>
        </p:nvSpPr>
        <p:spPr>
          <a:xfrm>
            <a:off x="4206240"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6" name="Google Shape;466;p23"/>
          <p:cNvSpPr/>
          <p:nvPr/>
        </p:nvSpPr>
        <p:spPr>
          <a:xfrm>
            <a:off x="4352544"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Five Evidence Planes</a:t>
            </a:r>
            <a:endParaRPr sz="1050">
              <a:solidFill>
                <a:schemeClr val="dk1"/>
              </a:solidFill>
              <a:latin typeface="Arial"/>
              <a:ea typeface="Arial"/>
              <a:cs typeface="Arial"/>
              <a:sym typeface="Arial"/>
            </a:endParaRPr>
          </a:p>
        </p:txBody>
      </p:sp>
      <p:sp>
        <p:nvSpPr>
          <p:cNvPr id="467" name="Google Shape;467;p23"/>
          <p:cNvSpPr/>
          <p:nvPr/>
        </p:nvSpPr>
        <p:spPr>
          <a:xfrm>
            <a:off x="4352544"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Authority and runtime evidence view</a:t>
            </a:r>
            <a:endParaRPr sz="880">
              <a:solidFill>
                <a:schemeClr val="dk1"/>
              </a:solidFill>
              <a:latin typeface="Arial"/>
              <a:ea typeface="Arial"/>
              <a:cs typeface="Arial"/>
              <a:sym typeface="Arial"/>
            </a:endParaRPr>
          </a:p>
        </p:txBody>
      </p:sp>
      <p:sp>
        <p:nvSpPr>
          <p:cNvPr id="468" name="Google Shape;468;p23">
            <a:hlinkClick r:id="rId8"/>
          </p:cNvPr>
          <p:cNvSpPr/>
          <p:nvPr/>
        </p:nvSpPr>
        <p:spPr>
          <a:xfrm>
            <a:off x="7973568"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9" name="Google Shape;469;p23"/>
          <p:cNvSpPr/>
          <p:nvPr/>
        </p:nvSpPr>
        <p:spPr>
          <a:xfrm>
            <a:off x="8119872"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Portable Evidence View</a:t>
            </a:r>
            <a:endParaRPr sz="1050">
              <a:solidFill>
                <a:schemeClr val="dk1"/>
              </a:solidFill>
              <a:latin typeface="Arial"/>
              <a:ea typeface="Arial"/>
              <a:cs typeface="Arial"/>
              <a:sym typeface="Arial"/>
            </a:endParaRPr>
          </a:p>
        </p:txBody>
      </p:sp>
      <p:sp>
        <p:nvSpPr>
          <p:cNvPr id="470" name="Google Shape;470;p23"/>
          <p:cNvSpPr/>
          <p:nvPr/>
        </p:nvSpPr>
        <p:spPr>
          <a:xfrm>
            <a:off x="8119872"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Reports / receipts / passport</a:t>
            </a:r>
            <a:endParaRPr sz="880">
              <a:solidFill>
                <a:schemeClr val="dk1"/>
              </a:solidFill>
              <a:latin typeface="Arial"/>
              <a:ea typeface="Arial"/>
              <a:cs typeface="Arial"/>
              <a:sym typeface="Arial"/>
            </a:endParaRPr>
          </a:p>
        </p:txBody>
      </p:sp>
      <p:sp>
        <p:nvSpPr>
          <p:cNvPr id="471" name="Google Shape;471;p23"/>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72" name="Google Shape;472;p23"/>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BF7"/>
        </a:solidFill>
      </p:bgPr>
    </p:bg>
    <p:spTree>
      <p:nvGrpSpPr>
        <p:cNvPr id="477" name="Shape 477"/>
        <p:cNvGrpSpPr/>
        <p:nvPr/>
      </p:nvGrpSpPr>
      <p:grpSpPr>
        <a:xfrm>
          <a:off x="0" y="0"/>
          <a:ext cx="0" cy="0"/>
          <a:chOff x="0" y="0"/>
          <a:chExt cx="0" cy="0"/>
        </a:xfrm>
      </p:grpSpPr>
      <p:sp>
        <p:nvSpPr>
          <p:cNvPr id="478" name="Google Shape;478;p24"/>
          <p:cNvSpPr/>
          <p:nvPr/>
        </p:nvSpPr>
        <p:spPr>
          <a:xfrm>
            <a:off x="0" y="0"/>
            <a:ext cx="12191695" cy="329184"/>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9" name="Google Shape;479;p24"/>
          <p:cNvSpPr/>
          <p:nvPr/>
        </p:nvSpPr>
        <p:spPr>
          <a:xfrm>
            <a:off x="164592" y="64008"/>
            <a:ext cx="4846320" cy="18288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1050"/>
              <a:buFont typeface="Arial"/>
              <a:buNone/>
            </a:pPr>
            <a:r>
              <a:rPr lang="en-US" sz="1050">
                <a:solidFill>
                  <a:srgbClr val="5F6C67"/>
                </a:solidFill>
                <a:latin typeface="Arial"/>
                <a:ea typeface="Arial"/>
                <a:cs typeface="Arial"/>
                <a:sym typeface="Arial"/>
              </a:rPr>
              <a:t>HAIEC · AI Action Path Assurance · MunichTech EXPO 2026</a:t>
            </a:r>
            <a:endParaRPr sz="1050">
              <a:solidFill>
                <a:schemeClr val="dk1"/>
              </a:solidFill>
              <a:latin typeface="Arial"/>
              <a:ea typeface="Arial"/>
              <a:cs typeface="Arial"/>
              <a:sym typeface="Arial"/>
            </a:endParaRPr>
          </a:p>
        </p:txBody>
      </p:sp>
      <p:sp>
        <p:nvSpPr>
          <p:cNvPr id="480" name="Google Shape;480;p24"/>
          <p:cNvSpPr/>
          <p:nvPr/>
        </p:nvSpPr>
        <p:spPr>
          <a:xfrm>
            <a:off x="11640312" y="64008"/>
            <a:ext cx="320040" cy="182880"/>
          </a:xfrm>
          <a:prstGeom prst="rect">
            <a:avLst/>
          </a:prstGeom>
          <a:noFill/>
          <a:ln>
            <a:noFill/>
          </a:ln>
        </p:spPr>
        <p:txBody>
          <a:bodyPr anchorCtr="0" anchor="ctr" bIns="250" lIns="250" spcFirstLastPara="1" rIns="250" wrap="square" tIns="250">
            <a:normAutofit/>
          </a:bodyPr>
          <a:lstStyle/>
          <a:p>
            <a:pPr indent="0" lvl="0" marL="0" marR="0" rtl="0" algn="r">
              <a:spcBef>
                <a:spcPts val="0"/>
              </a:spcBef>
              <a:spcAft>
                <a:spcPts val="0"/>
              </a:spcAft>
              <a:buNone/>
            </a:pPr>
            <a:r>
              <a:rPr lang="en-US" sz="919">
                <a:solidFill>
                  <a:srgbClr val="5D6F67"/>
                </a:solidFill>
                <a:latin typeface="Arial"/>
                <a:ea typeface="Arial"/>
                <a:cs typeface="Arial"/>
                <a:sym typeface="Arial"/>
              </a:rPr>
              <a:t>24</a:t>
            </a:r>
            <a:endParaRPr/>
          </a:p>
        </p:txBody>
      </p:sp>
      <p:sp>
        <p:nvSpPr>
          <p:cNvPr id="481" name="Google Shape;481;p24"/>
          <p:cNvSpPr/>
          <p:nvPr/>
        </p:nvSpPr>
        <p:spPr>
          <a:xfrm>
            <a:off x="438912" y="755000"/>
            <a:ext cx="2834640" cy="16459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07650"/>
              </a:buClr>
              <a:buSzPts val="880"/>
              <a:buFont typeface="Arial"/>
              <a:buNone/>
            </a:pPr>
            <a:r>
              <a:rPr b="1" lang="en-US" sz="880">
                <a:solidFill>
                  <a:srgbClr val="007650"/>
                </a:solidFill>
                <a:latin typeface="Arial"/>
                <a:ea typeface="Arial"/>
                <a:cs typeface="Arial"/>
                <a:sym typeface="Arial"/>
              </a:rPr>
              <a:t>MACHINE EVIDENCE</a:t>
            </a:r>
            <a:endParaRPr sz="900">
              <a:solidFill>
                <a:schemeClr val="dk1"/>
              </a:solidFill>
              <a:latin typeface="Arial"/>
              <a:ea typeface="Arial"/>
              <a:cs typeface="Arial"/>
              <a:sym typeface="Arial"/>
            </a:endParaRPr>
          </a:p>
        </p:txBody>
      </p:sp>
      <p:sp>
        <p:nvSpPr>
          <p:cNvPr id="482" name="Google Shape;482;p24"/>
          <p:cNvSpPr/>
          <p:nvPr/>
        </p:nvSpPr>
        <p:spPr>
          <a:xfrm>
            <a:off x="438912" y="960000"/>
            <a:ext cx="7223760" cy="36000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261E"/>
              </a:buClr>
              <a:buSzPts val="2480"/>
              <a:buFont typeface="Georgia"/>
              <a:buNone/>
            </a:pPr>
            <a:r>
              <a:rPr b="1" lang="en-US" sz="2480">
                <a:solidFill>
                  <a:srgbClr val="0E261E"/>
                </a:solidFill>
                <a:latin typeface="Georgia"/>
                <a:ea typeface="Georgia"/>
                <a:cs typeface="Georgia"/>
                <a:sym typeface="Georgia"/>
              </a:rPr>
              <a:t>Reports, manifests and machine evidence.</a:t>
            </a:r>
            <a:endParaRPr sz="2700">
              <a:solidFill>
                <a:schemeClr val="dk1"/>
              </a:solidFill>
              <a:latin typeface="Arial"/>
              <a:ea typeface="Arial"/>
              <a:cs typeface="Arial"/>
              <a:sym typeface="Arial"/>
            </a:endParaRPr>
          </a:p>
        </p:txBody>
      </p:sp>
      <p:sp>
        <p:nvSpPr>
          <p:cNvPr id="483" name="Google Shape;483;p24"/>
          <p:cNvSpPr/>
          <p:nvPr/>
        </p:nvSpPr>
        <p:spPr>
          <a:xfrm>
            <a:off x="438912" y="1425000"/>
            <a:ext cx="9875520" cy="26000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96A62"/>
              </a:buClr>
              <a:buSzPts val="1270"/>
              <a:buFont typeface="Arial"/>
              <a:buNone/>
            </a:pPr>
            <a:r>
              <a:rPr b="0" lang="en-US" sz="1270">
                <a:solidFill>
                  <a:srgbClr val="596A62"/>
                </a:solidFill>
                <a:latin typeface="Arial"/>
                <a:ea typeface="Arial"/>
                <a:cs typeface="Arial"/>
                <a:sym typeface="Arial"/>
              </a:rPr>
              <a:t>Direct links to the public report projections and machine-readable evidence files backing the Kestrel baseline evaluation.</a:t>
            </a:r>
            <a:endParaRPr sz="1260">
              <a:solidFill>
                <a:schemeClr val="dk1"/>
              </a:solidFill>
              <a:latin typeface="Arial"/>
              <a:ea typeface="Arial"/>
              <a:cs typeface="Arial"/>
              <a:sym typeface="Arial"/>
            </a:endParaRPr>
          </a:p>
        </p:txBody>
      </p:sp>
      <p:sp>
        <p:nvSpPr>
          <p:cNvPr id="484" name="Google Shape;484;p24">
            <a:hlinkClick r:id="rId3"/>
          </p:cNvPr>
          <p:cNvSpPr/>
          <p:nvPr/>
        </p:nvSpPr>
        <p:spPr>
          <a:xfrm>
            <a:off x="438912"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5" name="Google Shape;485;p24"/>
          <p:cNvSpPr/>
          <p:nvPr/>
        </p:nvSpPr>
        <p:spPr>
          <a:xfrm>
            <a:off x="585216"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Executive PDF</a:t>
            </a:r>
            <a:endParaRPr sz="1050">
              <a:solidFill>
                <a:schemeClr val="dk1"/>
              </a:solidFill>
              <a:latin typeface="Arial"/>
              <a:ea typeface="Arial"/>
              <a:cs typeface="Arial"/>
              <a:sym typeface="Arial"/>
            </a:endParaRPr>
          </a:p>
        </p:txBody>
      </p:sp>
      <p:sp>
        <p:nvSpPr>
          <p:cNvPr id="486" name="Google Shape;486;p24"/>
          <p:cNvSpPr/>
          <p:nvPr/>
        </p:nvSpPr>
        <p:spPr>
          <a:xfrm>
            <a:off x="585216"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Human-readable decision projection</a:t>
            </a:r>
            <a:endParaRPr sz="880">
              <a:solidFill>
                <a:schemeClr val="dk1"/>
              </a:solidFill>
              <a:latin typeface="Arial"/>
              <a:ea typeface="Arial"/>
              <a:cs typeface="Arial"/>
              <a:sym typeface="Arial"/>
            </a:endParaRPr>
          </a:p>
        </p:txBody>
      </p:sp>
      <p:sp>
        <p:nvSpPr>
          <p:cNvPr id="487" name="Google Shape;487;p24">
            <a:hlinkClick r:id="rId4"/>
          </p:cNvPr>
          <p:cNvSpPr/>
          <p:nvPr/>
        </p:nvSpPr>
        <p:spPr>
          <a:xfrm>
            <a:off x="4206240"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8" name="Google Shape;488;p24"/>
          <p:cNvSpPr/>
          <p:nvPr/>
        </p:nvSpPr>
        <p:spPr>
          <a:xfrm>
            <a:off x="4352544"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Technical PDF</a:t>
            </a:r>
            <a:endParaRPr sz="1050">
              <a:solidFill>
                <a:schemeClr val="dk1"/>
              </a:solidFill>
              <a:latin typeface="Arial"/>
              <a:ea typeface="Arial"/>
              <a:cs typeface="Arial"/>
              <a:sym typeface="Arial"/>
            </a:endParaRPr>
          </a:p>
        </p:txBody>
      </p:sp>
      <p:sp>
        <p:nvSpPr>
          <p:cNvPr id="489" name="Google Shape;489;p24"/>
          <p:cNvSpPr/>
          <p:nvPr/>
        </p:nvSpPr>
        <p:spPr>
          <a:xfrm>
            <a:off x="4352544"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Detailed assurance coverage</a:t>
            </a:r>
            <a:endParaRPr sz="880">
              <a:solidFill>
                <a:schemeClr val="dk1"/>
              </a:solidFill>
              <a:latin typeface="Arial"/>
              <a:ea typeface="Arial"/>
              <a:cs typeface="Arial"/>
              <a:sym typeface="Arial"/>
            </a:endParaRPr>
          </a:p>
        </p:txBody>
      </p:sp>
      <p:sp>
        <p:nvSpPr>
          <p:cNvPr id="490" name="Google Shape;490;p24">
            <a:hlinkClick r:id="rId5"/>
          </p:cNvPr>
          <p:cNvSpPr/>
          <p:nvPr/>
        </p:nvSpPr>
        <p:spPr>
          <a:xfrm>
            <a:off x="7973568" y="1920240"/>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1" name="Google Shape;491;p24"/>
          <p:cNvSpPr/>
          <p:nvPr/>
        </p:nvSpPr>
        <p:spPr>
          <a:xfrm>
            <a:off x="8119872" y="2029968"/>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Auditor PDF</a:t>
            </a:r>
            <a:endParaRPr sz="1050">
              <a:solidFill>
                <a:schemeClr val="dk1"/>
              </a:solidFill>
              <a:latin typeface="Arial"/>
              <a:ea typeface="Arial"/>
              <a:cs typeface="Arial"/>
              <a:sym typeface="Arial"/>
            </a:endParaRPr>
          </a:p>
        </p:txBody>
      </p:sp>
      <p:sp>
        <p:nvSpPr>
          <p:cNvPr id="492" name="Google Shape;492;p24"/>
          <p:cNvSpPr/>
          <p:nvPr/>
        </p:nvSpPr>
        <p:spPr>
          <a:xfrm>
            <a:off x="8119872" y="2231136"/>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Provenance and digest view</a:t>
            </a:r>
            <a:endParaRPr sz="880">
              <a:solidFill>
                <a:schemeClr val="dk1"/>
              </a:solidFill>
              <a:latin typeface="Arial"/>
              <a:ea typeface="Arial"/>
              <a:cs typeface="Arial"/>
              <a:sym typeface="Arial"/>
            </a:endParaRPr>
          </a:p>
        </p:txBody>
      </p:sp>
      <p:sp>
        <p:nvSpPr>
          <p:cNvPr id="493" name="Google Shape;493;p24">
            <a:hlinkClick r:id="rId6"/>
          </p:cNvPr>
          <p:cNvSpPr/>
          <p:nvPr/>
        </p:nvSpPr>
        <p:spPr>
          <a:xfrm>
            <a:off x="438912"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4" name="Google Shape;494;p24"/>
          <p:cNvSpPr/>
          <p:nvPr/>
        </p:nvSpPr>
        <p:spPr>
          <a:xfrm>
            <a:off x="585216"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Machine Evidence JSON</a:t>
            </a:r>
            <a:endParaRPr sz="1050">
              <a:solidFill>
                <a:schemeClr val="dk1"/>
              </a:solidFill>
              <a:latin typeface="Arial"/>
              <a:ea typeface="Arial"/>
              <a:cs typeface="Arial"/>
              <a:sym typeface="Arial"/>
            </a:endParaRPr>
          </a:p>
        </p:txBody>
      </p:sp>
      <p:sp>
        <p:nvSpPr>
          <p:cNvPr id="495" name="Google Shape;495;p24"/>
          <p:cNvSpPr/>
          <p:nvPr/>
        </p:nvSpPr>
        <p:spPr>
          <a:xfrm>
            <a:off x="585216"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Structured Kestrel evidence bundle</a:t>
            </a:r>
            <a:endParaRPr sz="880">
              <a:solidFill>
                <a:schemeClr val="dk1"/>
              </a:solidFill>
              <a:latin typeface="Arial"/>
              <a:ea typeface="Arial"/>
              <a:cs typeface="Arial"/>
              <a:sym typeface="Arial"/>
            </a:endParaRPr>
          </a:p>
        </p:txBody>
      </p:sp>
      <p:sp>
        <p:nvSpPr>
          <p:cNvPr id="496" name="Google Shape;496;p24">
            <a:hlinkClick r:id="rId7"/>
          </p:cNvPr>
          <p:cNvSpPr/>
          <p:nvPr/>
        </p:nvSpPr>
        <p:spPr>
          <a:xfrm>
            <a:off x="4206240"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7" name="Google Shape;497;p24"/>
          <p:cNvSpPr/>
          <p:nvPr/>
        </p:nvSpPr>
        <p:spPr>
          <a:xfrm>
            <a:off x="4352544" y="2743200"/>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Evidence Manifest</a:t>
            </a:r>
            <a:endParaRPr sz="1050">
              <a:solidFill>
                <a:schemeClr val="dk1"/>
              </a:solidFill>
              <a:latin typeface="Arial"/>
              <a:ea typeface="Arial"/>
              <a:cs typeface="Arial"/>
              <a:sym typeface="Arial"/>
            </a:endParaRPr>
          </a:p>
        </p:txBody>
      </p:sp>
      <p:sp>
        <p:nvSpPr>
          <p:cNvPr id="498" name="Google Shape;498;p24"/>
          <p:cNvSpPr/>
          <p:nvPr/>
        </p:nvSpPr>
        <p:spPr>
          <a:xfrm>
            <a:off x="4352544"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Artifact inventory and digests</a:t>
            </a:r>
            <a:endParaRPr sz="880">
              <a:solidFill>
                <a:schemeClr val="dk1"/>
              </a:solidFill>
              <a:latin typeface="Arial"/>
              <a:ea typeface="Arial"/>
              <a:cs typeface="Arial"/>
              <a:sym typeface="Arial"/>
            </a:endParaRPr>
          </a:p>
        </p:txBody>
      </p:sp>
      <p:sp>
        <p:nvSpPr>
          <p:cNvPr id="499" name="Google Shape;499;p24">
            <a:hlinkClick r:id="rId8"/>
          </p:cNvPr>
          <p:cNvSpPr/>
          <p:nvPr/>
        </p:nvSpPr>
        <p:spPr>
          <a:xfrm>
            <a:off x="7973568" y="2633472"/>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0" name="Google Shape;500;p24"/>
          <p:cNvSpPr/>
          <p:nvPr/>
        </p:nvSpPr>
        <p:spPr>
          <a:xfrm>
            <a:off x="8119872" y="2743200"/>
            <a:ext cx="3310200" cy="14640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Public Manifest</a:t>
            </a:r>
            <a:endParaRPr sz="1050">
              <a:solidFill>
                <a:schemeClr val="dk1"/>
              </a:solidFill>
              <a:latin typeface="Arial"/>
              <a:ea typeface="Arial"/>
              <a:cs typeface="Arial"/>
              <a:sym typeface="Arial"/>
            </a:endParaRPr>
          </a:p>
        </p:txBody>
      </p:sp>
      <p:sp>
        <p:nvSpPr>
          <p:cNvPr id="501" name="Google Shape;501;p24"/>
          <p:cNvSpPr/>
          <p:nvPr/>
        </p:nvSpPr>
        <p:spPr>
          <a:xfrm>
            <a:off x="8119872" y="2944368"/>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Sanitized public projection manifest</a:t>
            </a:r>
            <a:endParaRPr sz="880">
              <a:solidFill>
                <a:schemeClr val="dk1"/>
              </a:solidFill>
              <a:latin typeface="Arial"/>
              <a:ea typeface="Arial"/>
              <a:cs typeface="Arial"/>
              <a:sym typeface="Arial"/>
            </a:endParaRPr>
          </a:p>
        </p:txBody>
      </p:sp>
      <p:sp>
        <p:nvSpPr>
          <p:cNvPr id="502" name="Google Shape;502;p24">
            <a:hlinkClick r:id="rId9"/>
          </p:cNvPr>
          <p:cNvSpPr/>
          <p:nvPr/>
        </p:nvSpPr>
        <p:spPr>
          <a:xfrm>
            <a:off x="438912" y="3346704"/>
            <a:ext cx="3584448" cy="603504"/>
          </a:xfrm>
          <a:prstGeom prst="roundRect">
            <a:avLst>
              <a:gd fmla="val 12121" name="adj"/>
            </a:avLst>
          </a:prstGeom>
          <a:solidFill>
            <a:srgbClr val="FFFFFF"/>
          </a:solidFill>
          <a:ln cap="flat" cmpd="sng" w="12700">
            <a:solidFill>
              <a:srgbClr val="DFE6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3" name="Google Shape;503;p24"/>
          <p:cNvSpPr/>
          <p:nvPr/>
        </p:nvSpPr>
        <p:spPr>
          <a:xfrm>
            <a:off x="585216" y="3456432"/>
            <a:ext cx="3310128" cy="14630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0E6B4A"/>
              </a:buClr>
              <a:buSzPts val="1050"/>
              <a:buFont typeface="Arial"/>
              <a:buNone/>
            </a:pPr>
            <a:r>
              <a:rPr b="1" lang="en-US" sz="1050">
                <a:solidFill>
                  <a:srgbClr val="0E6B4A"/>
                </a:solidFill>
                <a:latin typeface="Arial"/>
                <a:ea typeface="Arial"/>
                <a:cs typeface="Arial"/>
                <a:sym typeface="Arial"/>
              </a:rPr>
              <a:t>Gold Evidence ZIP</a:t>
            </a:r>
            <a:endParaRPr sz="1050">
              <a:solidFill>
                <a:schemeClr val="dk1"/>
              </a:solidFill>
              <a:latin typeface="Arial"/>
              <a:ea typeface="Arial"/>
              <a:cs typeface="Arial"/>
              <a:sym typeface="Arial"/>
            </a:endParaRPr>
          </a:p>
        </p:txBody>
      </p:sp>
      <p:sp>
        <p:nvSpPr>
          <p:cNvPr id="504" name="Google Shape;504;p24"/>
          <p:cNvSpPr/>
          <p:nvPr/>
        </p:nvSpPr>
        <p:spPr>
          <a:xfrm>
            <a:off x="585216" y="3657600"/>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rPr lang="en-US" sz="880">
                <a:solidFill>
                  <a:srgbClr val="5F6C67"/>
                </a:solidFill>
                <a:latin typeface="Arial"/>
                <a:ea typeface="Arial"/>
                <a:cs typeface="Arial"/>
                <a:sym typeface="Arial"/>
              </a:rPr>
              <a:t>Packaged baseline evidence bundle</a:t>
            </a:r>
            <a:endParaRPr sz="880">
              <a:solidFill>
                <a:schemeClr val="dk1"/>
              </a:solidFill>
              <a:latin typeface="Arial"/>
              <a:ea typeface="Arial"/>
              <a:cs typeface="Arial"/>
              <a:sym typeface="Arial"/>
            </a:endParaRPr>
          </a:p>
        </p:txBody>
      </p:sp>
      <p:sp>
        <p:nvSpPr>
          <p:cNvPr id="505" name="Google Shape;505;p24"/>
          <p:cNvSpPr/>
          <p:nvPr/>
        </p:nvSpPr>
        <p:spPr>
          <a:xfrm>
            <a:off x="4352544" y="3657600"/>
            <a:ext cx="3310128" cy="15544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5F6C67"/>
              </a:buClr>
              <a:buSzPts val="880"/>
              <a:buFont typeface="Arial"/>
              <a:buNone/>
            </a:pPr>
            <a:r>
              <a:t/>
            </a:r>
            <a:endParaRPr sz="880">
              <a:solidFill>
                <a:schemeClr val="dk1"/>
              </a:solidFill>
              <a:latin typeface="Arial"/>
              <a:ea typeface="Arial"/>
              <a:cs typeface="Arial"/>
              <a:sym typeface="Arial"/>
            </a:endParaRPr>
          </a:p>
        </p:txBody>
      </p:sp>
      <p:sp>
        <p:nvSpPr>
          <p:cNvPr id="506" name="Google Shape;506;p24"/>
          <p:cNvSpPr/>
          <p:nvPr/>
        </p:nvSpPr>
        <p:spPr>
          <a:xfrm>
            <a:off x="0" y="6473952"/>
            <a:ext cx="12191695" cy="384048"/>
          </a:xfrm>
          <a:prstGeom prst="rect">
            <a:avLst/>
          </a:prstGeom>
          <a:solidFill>
            <a:srgbClr val="F9FBF7"/>
          </a:solidFill>
          <a:ln cap="flat" cmpd="sng" w="12700">
            <a:solidFill>
              <a:srgbClr val="F9FBF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07" name="Google Shape;507;p24"/>
          <p:cNvCxnSpPr/>
          <p:nvPr/>
        </p:nvCxnSpPr>
        <p:spPr>
          <a:xfrm>
            <a:off x="429768" y="6547104"/>
            <a:ext cx="11338560" cy="0"/>
          </a:xfrm>
          <a:prstGeom prst="straightConnector1">
            <a:avLst/>
          </a:prstGeom>
          <a:noFill/>
          <a:ln cap="flat" cmpd="sng" w="9525">
            <a:solidFill>
              <a:srgbClr val="DFE6DE"/>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2026-09-18T13:48:57Z</dcterms:created>
  <dc:creator>HAIEC</dc:creator>
</cp:coreProperties>
</file>