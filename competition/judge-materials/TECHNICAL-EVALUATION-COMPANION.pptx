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y="6858000" cx="12191675"/>
  <p:notesSz cx="6858000" cy="12191675"/>
  <p:embeddedFontLst>
    <p:embeddedFont>
      <p:font typeface="Play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h/kao3yg+CKQX5Da7d7qAbvrw7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font" Target="fonts/Play-regular.fntdata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customschemas.google.com/relationships/presentationmetadata" Target="metadata"/><Relationship Id="rId10" Type="http://schemas.openxmlformats.org/officeDocument/2006/relationships/slide" Target="slides/slide6.xml"/><Relationship Id="rId54" Type="http://schemas.openxmlformats.org/officeDocument/2006/relationships/font" Target="fonts/Pl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0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1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1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3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4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4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5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6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6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7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7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8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8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9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0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0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1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1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2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2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3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3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4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4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5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5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6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6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7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7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8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8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9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9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0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40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1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41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2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2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3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43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4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4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5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5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6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46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7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47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8:notes"/>
          <p:cNvSpPr txBox="1"/>
          <p:nvPr>
            <p:ph idx="1" type="body"/>
          </p:nvPr>
        </p:nvSpPr>
        <p:spPr>
          <a:xfrm>
            <a:off x="685800" y="5791025"/>
            <a:ext cx="5486400" cy="54862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8:notes"/>
          <p:cNvSpPr/>
          <p:nvPr>
            <p:ph idx="2" type="sldImg"/>
          </p:nvPr>
        </p:nvSpPr>
        <p:spPr>
          <a:xfrm>
            <a:off x="1143225" y="914375"/>
            <a:ext cx="4572225" cy="4571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youtu.be/5Eb2XnLJ8UE" TargetMode="External"/><Relationship Id="rId4" Type="http://schemas.openxmlformats.org/officeDocument/2006/relationships/hyperlink" Target="https://youtu.be/5Eb2XnLJ8UE" TargetMode="External"/><Relationship Id="rId5" Type="http://schemas.openxmlformats.org/officeDocument/2006/relationships/hyperlink" Target="https://youtu.be/9MZQBOY8RKI" TargetMode="External"/><Relationship Id="rId6" Type="http://schemas.openxmlformats.org/officeDocument/2006/relationships/hyperlink" Target="https://youtu.be/9MZQBOY8RKI" TargetMode="External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google.com/document/d/11oyVG-9XCodf8KmRIxOoLtwnXuXQYAkV95wREy3DSzg/edit" TargetMode="External"/><Relationship Id="rId10" Type="http://schemas.openxmlformats.org/officeDocument/2006/relationships/hyperlink" Target="https://drive.google.com/drive/folders/1S2gYsgRYr1PMq1fH_CDfxDjXOTbKO-dV" TargetMode="External"/><Relationship Id="rId13" Type="http://schemas.openxmlformats.org/officeDocument/2006/relationships/hyperlink" Target="https://docs.google.com/document/d/1x0wNPmIrzUUvyohCfohWt563eIjtkYYIDS_NjcoeTxw/edit" TargetMode="External"/><Relationship Id="rId12" Type="http://schemas.openxmlformats.org/officeDocument/2006/relationships/hyperlink" Target="https://docs.google.com/document/d/11oyVG-9XCodf8KmRIxOoLtwnXuXQYAkV95wREy3DSzg/edit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haiec.com/sample-reports/kestrel" TargetMode="External"/><Relationship Id="rId4" Type="http://schemas.openxmlformats.org/officeDocument/2006/relationships/hyperlink" Target="https://www.haiec.com/sample-reports/kestrel" TargetMode="External"/><Relationship Id="rId9" Type="http://schemas.openxmlformats.org/officeDocument/2006/relationships/hyperlink" Target="https://drive.google.com/drive/folders/1S2gYsgRYr1PMq1fH_CDfxDjXOTbKO-dV" TargetMode="External"/><Relationship Id="rId14" Type="http://schemas.openxmlformats.org/officeDocument/2006/relationships/hyperlink" Target="https://docs.google.com/document/d/1x0wNPmIrzUUvyohCfohWt563eIjtkYYIDS_NjcoeTxw/edit" TargetMode="External"/><Relationship Id="rId5" Type="http://schemas.openxmlformats.org/officeDocument/2006/relationships/hyperlink" Target="https://www.haiec.com/sample-reports/kestrel/constellation" TargetMode="External"/><Relationship Id="rId6" Type="http://schemas.openxmlformats.org/officeDocument/2006/relationships/hyperlink" Target="https://www.haiec.com/sample-reports/kestrel/constellation" TargetMode="External"/><Relationship Id="rId7" Type="http://schemas.openxmlformats.org/officeDocument/2006/relationships/hyperlink" Target="https://drive.google.com/drive/folders/1hb36QjVls1LK1GaPqlrrPXoM8FB7eYM2" TargetMode="External"/><Relationship Id="rId8" Type="http://schemas.openxmlformats.org/officeDocument/2006/relationships/hyperlink" Target="https://drive.google.com/drive/folders/1hb36QjVls1LK1GaPqlrrPXoM8FB7eYM2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hyperlink" Target="https://youtu.be/5Eb2XnLJ8UE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haiec.com/sample-reports/kestrel" TargetMode="External"/><Relationship Id="rId4" Type="http://schemas.openxmlformats.org/officeDocument/2006/relationships/hyperlink" Target="https://www.haiec.com/sample-reports/kestrel" TargetMode="External"/><Relationship Id="rId9" Type="http://schemas.openxmlformats.org/officeDocument/2006/relationships/hyperlink" Target="https://youtu.be/5Eb2XnLJ8UE" TargetMode="External"/><Relationship Id="rId5" Type="http://schemas.openxmlformats.org/officeDocument/2006/relationships/hyperlink" Target="https://www.haiec.com/sample-reports/kestrel/constellation" TargetMode="External"/><Relationship Id="rId6" Type="http://schemas.openxmlformats.org/officeDocument/2006/relationships/hyperlink" Target="https://www.haiec.com/sample-reports/kestrel/constellation" TargetMode="External"/><Relationship Id="rId7" Type="http://schemas.openxmlformats.org/officeDocument/2006/relationships/hyperlink" Target="https://www.haiec.com/login" TargetMode="External"/><Relationship Id="rId8" Type="http://schemas.openxmlformats.org/officeDocument/2006/relationships/hyperlink" Target="https://www.haiec.com/login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hyperlink" Target="https://www.haiec.com/sample-reports/kestrel/constellation" TargetMode="External"/><Relationship Id="rId5" Type="http://schemas.openxmlformats.org/officeDocument/2006/relationships/hyperlink" Target="https://www.haiec.com/sample-reports/kestrel/constellation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rive.google.com/drive/folders/1hb36QjVls1LK1GaPqlrrPXoM8FB7eYM2" TargetMode="External"/><Relationship Id="rId4" Type="http://schemas.openxmlformats.org/officeDocument/2006/relationships/hyperlink" Target="https://drive.google.com/drive/folders/1hb36QjVls1LK1GaPqlrrPXoM8FB7eYM2" TargetMode="External"/><Relationship Id="rId5" Type="http://schemas.openxmlformats.org/officeDocument/2006/relationships/hyperlink" Target="https://docs.google.com/document/d/1IeKMqhdn3d1aHS7JIS605f0LLaQq204C0sWNN1bp5uw/edit" TargetMode="External"/><Relationship Id="rId6" Type="http://schemas.openxmlformats.org/officeDocument/2006/relationships/hyperlink" Target="https://docs.google.com/document/d/1IeKMqhdn3d1aHS7JIS605f0LLaQq204C0sWNN1bp5uw/edit" TargetMode="External"/><Relationship Id="rId7" Type="http://schemas.openxmlformats.org/officeDocument/2006/relationships/hyperlink" Target="https://docs.google.com/document/d/1x0wNPmIrzUUvyohCfohWt563eIjtkYYIDS_NjcoeTxw/edit" TargetMode="External"/><Relationship Id="rId8" Type="http://schemas.openxmlformats.org/officeDocument/2006/relationships/hyperlink" Target="https://docs.google.com/document/d/1x0wNPmIrzUUvyohCfohWt563eIjtkYYIDS_NjcoeTxw/edit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drive/folders/1hb36QjVls1LK1GaPqlrrPXoM8FB7eYM2" TargetMode="External"/><Relationship Id="rId10" Type="http://schemas.openxmlformats.org/officeDocument/2006/relationships/hyperlink" Target="https://www.haiec.com/sample-reports/kestrel/constellation" TargetMode="External"/><Relationship Id="rId13" Type="http://schemas.openxmlformats.org/officeDocument/2006/relationships/hyperlink" Target="https://drive.google.com/drive/folders/1S2gYsgRYr1PMq1fH_CDfxDjXOTbKO-dV" TargetMode="External"/><Relationship Id="rId12" Type="http://schemas.openxmlformats.org/officeDocument/2006/relationships/hyperlink" Target="https://drive.google.com/drive/folders/1hb36QjVls1LK1GaPqlrrPXoM8FB7eYM2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youtu.be/5Eb2XnLJ8UE" TargetMode="External"/><Relationship Id="rId4" Type="http://schemas.openxmlformats.org/officeDocument/2006/relationships/hyperlink" Target="https://youtu.be/5Eb2XnLJ8UE" TargetMode="External"/><Relationship Id="rId9" Type="http://schemas.openxmlformats.org/officeDocument/2006/relationships/hyperlink" Target="https://www.haiec.com/sample-reports/kestrel/constellation" TargetMode="External"/><Relationship Id="rId15" Type="http://schemas.openxmlformats.org/officeDocument/2006/relationships/hyperlink" Target="https://www.haiec.com/login" TargetMode="External"/><Relationship Id="rId14" Type="http://schemas.openxmlformats.org/officeDocument/2006/relationships/hyperlink" Target="https://drive.google.com/drive/folders/1S2gYsgRYr1PMq1fH_CDfxDjXOTbKO-dV" TargetMode="External"/><Relationship Id="rId17" Type="http://schemas.openxmlformats.org/officeDocument/2006/relationships/hyperlink" Target="https://docs.google.com/document/d/1x0wNPmIrzUUvyohCfohWt563eIjtkYYIDS_NjcoeTxw/edit" TargetMode="External"/><Relationship Id="rId16" Type="http://schemas.openxmlformats.org/officeDocument/2006/relationships/hyperlink" Target="https://www.haiec.com/login" TargetMode="External"/><Relationship Id="rId5" Type="http://schemas.openxmlformats.org/officeDocument/2006/relationships/hyperlink" Target="https://youtu.be/9MZQBOY8RKI" TargetMode="External"/><Relationship Id="rId6" Type="http://schemas.openxmlformats.org/officeDocument/2006/relationships/hyperlink" Target="https://youtu.be/9MZQBOY8RKI" TargetMode="External"/><Relationship Id="rId18" Type="http://schemas.openxmlformats.org/officeDocument/2006/relationships/hyperlink" Target="https://docs.google.com/document/d/1x0wNPmIrzUUvyohCfohWt563eIjtkYYIDS_NjcoeTxw/edit" TargetMode="External"/><Relationship Id="rId7" Type="http://schemas.openxmlformats.org/officeDocument/2006/relationships/hyperlink" Target="https://www.haiec.com/sample-reports/kestrel" TargetMode="External"/><Relationship Id="rId8" Type="http://schemas.openxmlformats.org/officeDocument/2006/relationships/hyperlink" Target="https://www.haiec.com/sample-reports/kestrel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i="0" lang="en-US" sz="760" u="none" cap="none" strike="noStrike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TECHNICAL COMPANION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1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AI Action Path Assurance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Technical Evaluation Companion for MunichTech reviewers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58368" y="1417320"/>
            <a:ext cx="51663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Judge deck tells the story.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This companion proves the story.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5800" y="2788920"/>
            <a:ext cx="48006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A compact technical deck for reviewers who want implementation logic, evidence semantics, Kestrel details, A/B release comparison, and verification paths.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5800" y="3886200"/>
            <a:ext cx="1600200" cy="256032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A5B10"/>
                </a:solidFill>
                <a:latin typeface="Arial"/>
                <a:ea typeface="Arial"/>
                <a:cs typeface="Arial"/>
                <a:sym typeface="Arial"/>
              </a:rPr>
              <a:t>Not AI testing AI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468880" y="3886200"/>
            <a:ext cx="2148840" cy="256032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Deterministic evidence 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>
            <a:hlinkClick r:id="rId3"/>
          </p:cNvPr>
          <p:cNvSpPr/>
          <p:nvPr/>
        </p:nvSpPr>
        <p:spPr>
          <a:xfrm>
            <a:off x="685800" y="4617720"/>
            <a:ext cx="260604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i="0" lang="en-US" sz="1300" u="sng" cap="none" strike="noStrike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Narrated judge presentation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>
            <a:hlinkClick r:id="rId5"/>
          </p:cNvPr>
          <p:cNvSpPr/>
          <p:nvPr/>
        </p:nvSpPr>
        <p:spPr>
          <a:xfrm>
            <a:off x="3520440" y="4617720"/>
            <a:ext cx="2057400" cy="329184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1300"/>
              <a:buFont typeface="Arial"/>
              <a:buNone/>
            </a:pPr>
            <a:r>
              <a:rPr b="1" i="0" lang="en-US" sz="1300" u="sng" cap="none" strike="noStrike">
                <a:solidFill>
                  <a:srgbClr val="8A5B1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Product demo video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510528" y="1143000"/>
            <a:ext cx="4855464" cy="4398264"/>
          </a:xfrm>
          <a:prstGeom prst="roundRect">
            <a:avLst>
              <a:gd fmla="val 3119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hero_crop.png" id="24" name="Google Shape;2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7960" y="1991245"/>
            <a:ext cx="4800600" cy="270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TECHNICAL COMPANION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2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How to review this companion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A suggested path for technical evaluators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77240" y="1600200"/>
            <a:ext cx="10607040" cy="713232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01 · Watch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Start with the narrated judge presentation or product demo.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77240" y="2459736"/>
            <a:ext cx="106070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02 · Inspect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Open the public Kestrel report and System Consequence Map.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7240" y="3319272"/>
            <a:ext cx="10607040" cy="713232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03 · Verify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Use the evidence packs, manifests, and technical artifacts.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77240" y="4178808"/>
            <a:ext cx="106070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04 · Validate claims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Read the claim-boundary slides before interpreting REVIEW as pass/fail.</a:t>
            </a:r>
            <a:endParaRPr sz="11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>
            <a:hlinkClick r:id="rId3"/>
          </p:cNvPr>
          <p:cNvSpPr/>
          <p:nvPr/>
        </p:nvSpPr>
        <p:spPr>
          <a:xfrm>
            <a:off x="777240" y="5230368"/>
            <a:ext cx="128016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Report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>
            <a:hlinkClick r:id="rId5"/>
          </p:cNvPr>
          <p:cNvSpPr/>
          <p:nvPr/>
        </p:nvSpPr>
        <p:spPr>
          <a:xfrm>
            <a:off x="2240280" y="5230368"/>
            <a:ext cx="114300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Map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>
            <a:hlinkClick r:id="rId7"/>
          </p:cNvPr>
          <p:cNvSpPr/>
          <p:nvPr/>
        </p:nvSpPr>
        <p:spPr>
          <a:xfrm>
            <a:off x="3584448" y="5230368"/>
            <a:ext cx="173736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Gold evidence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>
            <a:hlinkClick r:id="rId9"/>
          </p:cNvPr>
          <p:cNvSpPr/>
          <p:nvPr/>
        </p:nvSpPr>
        <p:spPr>
          <a:xfrm>
            <a:off x="5504688" y="5230368"/>
            <a:ext cx="164592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A/B evidence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>
            <a:hlinkClick r:id="rId11"/>
          </p:cNvPr>
          <p:cNvSpPr/>
          <p:nvPr/>
        </p:nvSpPr>
        <p:spPr>
          <a:xfrm>
            <a:off x="7360920" y="5230368"/>
            <a:ext cx="182880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Hands-on guide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>
            <a:hlinkClick r:id="rId13"/>
          </p:cNvPr>
          <p:cNvSpPr/>
          <p:nvPr/>
        </p:nvSpPr>
        <p:spPr>
          <a:xfrm>
            <a:off x="9372600" y="5230368"/>
            <a:ext cx="155448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Final index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77240" y="580644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Color convention: green = HAIEC/product evidence; gold = evidence boundary or release action; gray = context or non-claim.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TECHNICAL THESIS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p3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3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Not AI testing AI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The assurance claim does not depend on one model judging another model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777240" y="150876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74632"/>
                </a:solidFill>
                <a:latin typeface="Play"/>
                <a:ea typeface="Play"/>
                <a:cs typeface="Play"/>
                <a:sym typeface="Play"/>
              </a:rPr>
              <a:t>Not AI testing AI.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22960" y="2468880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HAIEC does not ask another model whether an agent “looks safe.” It builds deterministic, source-backed evidence of what the system can reach and cause.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22960" y="3794760"/>
            <a:ext cx="452628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reviewable evidence, not opinion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reproducible claims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bounded uncertainty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release-ready artifacts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080760" y="1508760"/>
            <a:ext cx="5166360" cy="1417320"/>
          </a:xfrm>
          <a:prstGeom prst="roundRect">
            <a:avLst>
              <a:gd fmla="val 11613" name="adj"/>
            </a:avLst>
          </a:prstGeom>
          <a:solidFill>
            <a:srgbClr val="FFF4D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245352" y="1673352"/>
            <a:ext cx="483717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8A5B10"/>
                </a:solidFill>
                <a:latin typeface="Play"/>
                <a:ea typeface="Play"/>
                <a:cs typeface="Play"/>
                <a:sym typeface="Play"/>
              </a:rPr>
              <a:t>LLMs can explain evidence.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8A5B10"/>
                </a:solidFill>
                <a:latin typeface="Play"/>
                <a:ea typeface="Play"/>
                <a:cs typeface="Play"/>
                <a:sym typeface="Play"/>
              </a:rPr>
              <a:t>They do not establish the evidence.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6868668" y="375818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" name="Google Shape;62;p3"/>
          <p:cNvCxnSpPr/>
          <p:nvPr/>
        </p:nvCxnSpPr>
        <p:spPr>
          <a:xfrm>
            <a:off x="7748016" y="375818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" name="Google Shape;63;p3"/>
          <p:cNvCxnSpPr/>
          <p:nvPr/>
        </p:nvCxnSpPr>
        <p:spPr>
          <a:xfrm>
            <a:off x="8627364" y="375818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" name="Google Shape;64;p3"/>
          <p:cNvCxnSpPr/>
          <p:nvPr/>
        </p:nvCxnSpPr>
        <p:spPr>
          <a:xfrm>
            <a:off x="9506712" y="375818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" name="Google Shape;65;p3"/>
          <p:cNvCxnSpPr/>
          <p:nvPr/>
        </p:nvCxnSpPr>
        <p:spPr>
          <a:xfrm>
            <a:off x="10386060" y="375818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" name="Google Shape;66;p3"/>
          <p:cNvSpPr/>
          <p:nvPr/>
        </p:nvSpPr>
        <p:spPr>
          <a:xfrm>
            <a:off x="6080760" y="3474720"/>
            <a:ext cx="7696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Capability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960108" y="3474720"/>
            <a:ext cx="7696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Dispatch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839456" y="3474720"/>
            <a:ext cx="7696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718804" y="3474720"/>
            <a:ext cx="7696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Resource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598152" y="3474720"/>
            <a:ext cx="7696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Consequence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477500" y="3474720"/>
            <a:ext cx="769620" cy="566928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126480" y="4617720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Technical USP: deterministic action-path evidence from capability to consequence.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TECHNICAL THESIS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" name="Google Shape;78;p4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4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Deterministic evidence graph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The approved technical “how” line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13232" y="1353312"/>
            <a:ext cx="10789920" cy="1965960"/>
          </a:xfrm>
          <a:prstGeom prst="roundRect">
            <a:avLst>
              <a:gd fmla="val 8372" name="adj"/>
            </a:avLst>
          </a:prstGeom>
          <a:solidFill>
            <a:srgbClr val="F3FBF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877824" y="1517904"/>
            <a:ext cx="10460736" cy="1636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Under the hood, HAIEC constructs a deterministic evidence graph across AI capability, dispatch, implementation, resource and consequence relationships, then reconciles every consequential path against separate authority and evidence planes.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4"/>
          <p:cNvCxnSpPr/>
          <p:nvPr/>
        </p:nvCxnSpPr>
        <p:spPr>
          <a:xfrm>
            <a:off x="2464308" y="4183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" name="Google Shape;86;p4"/>
          <p:cNvCxnSpPr/>
          <p:nvPr/>
        </p:nvCxnSpPr>
        <p:spPr>
          <a:xfrm>
            <a:off x="4242816" y="4183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" name="Google Shape;87;p4"/>
          <p:cNvCxnSpPr/>
          <p:nvPr/>
        </p:nvCxnSpPr>
        <p:spPr>
          <a:xfrm>
            <a:off x="6021324" y="4183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" name="Google Shape;88;p4"/>
          <p:cNvCxnSpPr/>
          <p:nvPr/>
        </p:nvCxnSpPr>
        <p:spPr>
          <a:xfrm>
            <a:off x="7799832" y="4183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" name="Google Shape;89;p4"/>
          <p:cNvCxnSpPr/>
          <p:nvPr/>
        </p:nvCxnSpPr>
        <p:spPr>
          <a:xfrm>
            <a:off x="9578340" y="4183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" name="Google Shape;90;p4"/>
          <p:cNvSpPr/>
          <p:nvPr/>
        </p:nvSpPr>
        <p:spPr>
          <a:xfrm>
            <a:off x="777240" y="3840480"/>
            <a:ext cx="166878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AI capability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555748" y="3840480"/>
            <a:ext cx="166878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Dispatch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334256" y="3840480"/>
            <a:ext cx="166878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112764" y="3840480"/>
            <a:ext cx="166878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Resource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891272" y="3840480"/>
            <a:ext cx="166878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Consequence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669780" y="3840480"/>
            <a:ext cx="1668780" cy="68580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Authority / evidence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22960" y="4983480"/>
            <a:ext cx="31546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What is proprietary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The engine’s internal methods, coverage models and qualification logic.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26280" y="4983480"/>
            <a:ext cx="3337560" cy="658368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What is judge-visible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Evidence graph outputs, source-backed path trails, reports, manifests and claim boundaries.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412480" y="4983480"/>
            <a:ext cx="2788920" cy="658368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What is not claimed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Universal coverage, runtime execution, certification, or exploit prevention.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EVALUATION SCOPE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5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5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Kestrel frozen evaluation identity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The technical facts behind the public demo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85800" y="1417320"/>
            <a:ext cx="512064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Frozen evaluation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Repository: subodhkc/AI-Service-Call-Agent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Source commit: 5e65843fddfe5f907485b798e464ad37b3b3b2c7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Public evaluation ref: HAIEC-KESTREL-EVAL-5e65843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Snapshot: 2026-09-14T08:38:17.814Z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Schema: assurance-evidence-bundle-1.1.0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236208" y="1207008"/>
            <a:ext cx="4946904" cy="3666744"/>
          </a:xfrm>
          <a:prstGeom prst="roundRect">
            <a:avLst>
              <a:gd fmla="val 3741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sysProfile_crop.png"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663881"/>
            <a:ext cx="4892040" cy="275299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6263640" y="4919472"/>
            <a:ext cx="4892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Kestrel system profile and composition snapshot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13232" y="5138928"/>
            <a:ext cx="10424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Bundle digest: 3e21e47c0fdfa89d7dc0a7516d680b578b4051d923c47c731aee411c47e50901</a:t>
            </a:r>
            <a:endParaRPr sz="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EVALUATION SCOPE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6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6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Live access for reviewers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Public flagship demo first; optional interactive product review second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85800" y="1353312"/>
            <a:ext cx="5257800" cy="288036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PUBLIC FLAGSHIP DEMO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Kestrel Assurance Report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https://www.haiec.com/sample-reports/kestrel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Kestrel System Consequence Map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https://www.haiec.com/sample-reports/kestrel/constellation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</a:pPr>
            <a:r>
              <a:t/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No login required.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263640" y="1353312"/>
            <a:ext cx="4892040" cy="288036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OPTIONAL INTERACTIVE PRODUCT REVIEW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Demo workspace: https://www.haiec.com/login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Email: munich-judge@haiec.com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Password: Kestrel-Judge-2026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Workspace: MunichTech Demo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Demo data only.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>
            <a:hlinkClick r:id="rId3"/>
          </p:cNvPr>
          <p:cNvSpPr/>
          <p:nvPr/>
        </p:nvSpPr>
        <p:spPr>
          <a:xfrm>
            <a:off x="685800" y="4681728"/>
            <a:ext cx="150876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Public report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>
            <a:hlinkClick r:id="rId5"/>
          </p:cNvPr>
          <p:cNvSpPr/>
          <p:nvPr/>
        </p:nvSpPr>
        <p:spPr>
          <a:xfrm>
            <a:off x="2377440" y="4681728"/>
            <a:ext cx="141732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System map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>
            <a:hlinkClick r:id="rId7"/>
          </p:cNvPr>
          <p:cNvSpPr/>
          <p:nvPr/>
        </p:nvSpPr>
        <p:spPr>
          <a:xfrm>
            <a:off x="6263640" y="4681728"/>
            <a:ext cx="1737360" cy="329184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8A5B10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Login workspace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>
            <a:hlinkClick r:id="rId9"/>
          </p:cNvPr>
          <p:cNvSpPr/>
          <p:nvPr/>
        </p:nvSpPr>
        <p:spPr>
          <a:xfrm>
            <a:off x="8229600" y="4681728"/>
            <a:ext cx="2103120" cy="329184"/>
          </a:xfrm>
          <a:prstGeom prst="rect">
            <a:avLst/>
          </a:prstGeom>
          <a:solidFill>
            <a:srgbClr val="F0F3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Narrated presentation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31520" y="5532120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Primary path: public report and map. Credentials are for optional workflow review in a demonstration workspace.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RESULT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7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7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Technical result summary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A frozen evaluation produced a concrete release-review result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85800" y="1417320"/>
            <a:ext cx="3337560" cy="96012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AI action paths confirmed in code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343400" y="1417320"/>
            <a:ext cx="3337560" cy="96012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44 / 44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evaluated paths met Code Capability evidence criteria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8001000" y="1417320"/>
            <a:ext cx="3337560" cy="96012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1,322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supporting Action Path traces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85800" y="2624328"/>
            <a:ext cx="3337560" cy="96012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555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Verified Action Frontier review checkpoints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343400" y="2624328"/>
            <a:ext cx="3337560" cy="96012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release posture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001000" y="2624328"/>
            <a:ext cx="3337560" cy="96012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Release Action Flags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731520" y="5303520"/>
            <a:ext cx="10332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Interpretation: this is not a vulnerability count. It is a source-backed map of consequential AI action paths and the evidence needed before stronger release claims.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PROOF MODEL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8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8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Unit of assurance: AI Action Path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A connected route from AI-facing capability to consequence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13232" y="1417320"/>
            <a:ext cx="4892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The unit of assurance is not the prompt.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It is the path.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31520" y="3063240"/>
            <a:ext cx="457200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AI Action Path includes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AI-facing capability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dispatch and implementation path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resource or service operation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consequential effect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authority and evidence state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8"/>
          <p:cNvCxnSpPr/>
          <p:nvPr/>
        </p:nvCxnSpPr>
        <p:spPr>
          <a:xfrm>
            <a:off x="6766560" y="1810512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1" name="Google Shape;161;p8"/>
          <p:cNvCxnSpPr/>
          <p:nvPr/>
        </p:nvCxnSpPr>
        <p:spPr>
          <a:xfrm>
            <a:off x="7699248" y="1810512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" name="Google Shape;162;p8"/>
          <p:cNvCxnSpPr/>
          <p:nvPr/>
        </p:nvCxnSpPr>
        <p:spPr>
          <a:xfrm>
            <a:off x="8631936" y="1810512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8"/>
          <p:cNvCxnSpPr/>
          <p:nvPr/>
        </p:nvCxnSpPr>
        <p:spPr>
          <a:xfrm>
            <a:off x="9564624" y="1810512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" name="Google Shape;164;p8"/>
          <p:cNvCxnSpPr/>
          <p:nvPr/>
        </p:nvCxnSpPr>
        <p:spPr>
          <a:xfrm>
            <a:off x="10497312" y="1810512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p8"/>
          <p:cNvSpPr/>
          <p:nvPr/>
        </p:nvSpPr>
        <p:spPr>
          <a:xfrm>
            <a:off x="5897880" y="1572768"/>
            <a:ext cx="859536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E3C"/>
              </a:buClr>
              <a:buSzPts val="1220"/>
              <a:buFont typeface="Play"/>
              <a:buNone/>
            </a:pPr>
            <a:r>
              <a:rPr b="1" lang="en-US" sz="1220">
                <a:solidFill>
                  <a:srgbClr val="004E3C"/>
                </a:solidFill>
                <a:latin typeface="Play"/>
                <a:ea typeface="Play"/>
                <a:cs typeface="Play"/>
                <a:sym typeface="Play"/>
              </a:rPr>
              <a:t>AI</a:t>
            </a:r>
            <a:br>
              <a:rPr b="1" lang="en-US" sz="1220">
                <a:solidFill>
                  <a:srgbClr val="004E3C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en-US" sz="1220">
                <a:solidFill>
                  <a:srgbClr val="004E3C"/>
                </a:solidFill>
                <a:latin typeface="Play"/>
                <a:ea typeface="Play"/>
                <a:cs typeface="Play"/>
                <a:sym typeface="Play"/>
              </a:rPr>
              <a:t>surface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830568" y="1572768"/>
            <a:ext cx="859536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E3C"/>
              </a:buClr>
              <a:buSzPts val="1220"/>
              <a:buFont typeface="Play"/>
              <a:buNone/>
            </a:pPr>
            <a:r>
              <a:rPr b="1" lang="en-US" sz="1220">
                <a:solidFill>
                  <a:srgbClr val="004E3C"/>
                </a:solidFill>
                <a:latin typeface="Play"/>
                <a:ea typeface="Play"/>
                <a:cs typeface="Play"/>
                <a:sym typeface="Play"/>
              </a:rPr>
              <a:t>Capability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763256" y="1572768"/>
            <a:ext cx="859536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E3C"/>
              </a:buClr>
              <a:buSzPts val="1220"/>
              <a:buFont typeface="Play"/>
              <a:buNone/>
            </a:pPr>
            <a:r>
              <a:rPr b="1" lang="en-US" sz="1220">
                <a:solidFill>
                  <a:srgbClr val="004E3C"/>
                </a:solidFill>
                <a:latin typeface="Play"/>
                <a:ea typeface="Play"/>
                <a:cs typeface="Play"/>
                <a:sym typeface="Play"/>
              </a:rPr>
              <a:t>Handler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695944" y="1572768"/>
            <a:ext cx="859536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E3C"/>
              </a:buClr>
              <a:buSzPts val="1220"/>
              <a:buFont typeface="Play"/>
              <a:buNone/>
            </a:pPr>
            <a:r>
              <a:rPr b="1" lang="en-US" sz="1220">
                <a:solidFill>
                  <a:srgbClr val="004E3C"/>
                </a:solidFill>
                <a:latin typeface="Play"/>
                <a:ea typeface="Play"/>
                <a:cs typeface="Play"/>
                <a:sym typeface="Play"/>
              </a:rPr>
              <a:t>Resource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628632" y="1572768"/>
            <a:ext cx="859536" cy="59436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E3C"/>
              </a:buClr>
              <a:buSzPts val="1220"/>
              <a:buFont typeface="Play"/>
              <a:buNone/>
            </a:pPr>
            <a:r>
              <a:rPr b="1" lang="en-US" sz="1220">
                <a:solidFill>
                  <a:srgbClr val="004E3C"/>
                </a:solidFill>
                <a:latin typeface="Play"/>
                <a:ea typeface="Play"/>
                <a:cs typeface="Play"/>
                <a:sym typeface="Play"/>
              </a:rPr>
              <a:t>Conseq.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561320" y="1572768"/>
            <a:ext cx="859536" cy="594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27425" spcFirstLastPara="1" rIns="27425" wrap="square" tIns="18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E3C"/>
              </a:buClr>
              <a:buSzPts val="1220"/>
              <a:buFont typeface="Play"/>
              <a:buNone/>
            </a:pPr>
            <a:r>
              <a:rPr b="1" lang="en-US" sz="1220">
                <a:solidFill>
                  <a:srgbClr val="004E3C"/>
                </a:solidFill>
                <a:latin typeface="Play"/>
                <a:ea typeface="Play"/>
                <a:cs typeface="Play"/>
                <a:sym typeface="Play"/>
              </a:rPr>
              <a:t>Evidence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172200" y="2880360"/>
            <a:ext cx="4846320" cy="1234440"/>
          </a:xfrm>
          <a:prstGeom prst="roundRect">
            <a:avLst>
              <a:gd fmla="val 13333" name="adj"/>
            </a:avLst>
          </a:prstGeom>
          <a:solidFill>
            <a:srgbClr val="F3FBF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336792" y="3044952"/>
            <a:ext cx="4517136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A tool list says what exists.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An action path says what can happen.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217920" y="4709160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Same object powers the map, report, release flags, passport and A/B comparison.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PROOF MODEL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9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9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Action path chain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Capability → dispatch → handler → resource → consequence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9"/>
          <p:cNvCxnSpPr/>
          <p:nvPr/>
        </p:nvCxnSpPr>
        <p:spPr>
          <a:xfrm>
            <a:off x="2774290" y="179222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9"/>
          <p:cNvCxnSpPr/>
          <p:nvPr/>
        </p:nvCxnSpPr>
        <p:spPr>
          <a:xfrm>
            <a:off x="4954219" y="179222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" name="Google Shape;186;p9"/>
          <p:cNvCxnSpPr/>
          <p:nvPr/>
        </p:nvCxnSpPr>
        <p:spPr>
          <a:xfrm>
            <a:off x="7134149" y="179222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9"/>
          <p:cNvCxnSpPr/>
          <p:nvPr/>
        </p:nvCxnSpPr>
        <p:spPr>
          <a:xfrm>
            <a:off x="9314078" y="179222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p9"/>
          <p:cNvSpPr/>
          <p:nvPr/>
        </p:nvSpPr>
        <p:spPr>
          <a:xfrm>
            <a:off x="685800" y="1463040"/>
            <a:ext cx="2070202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Capability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2865730" y="1463040"/>
            <a:ext cx="2070202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Dispatch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045659" y="1463040"/>
            <a:ext cx="2070202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Handler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225589" y="1463040"/>
            <a:ext cx="2070202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Resource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9405518" y="1463040"/>
            <a:ext cx="2070202" cy="658368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Consequence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77240" y="2542032"/>
            <a:ext cx="205740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Capability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The AI-facing action or tool surface exists and is within evaluated scope.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2971800" y="2542032"/>
            <a:ext cx="205740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Dispatch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The request can route toward implementation through code or framework relationships.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166360" y="2542032"/>
            <a:ext cx="205740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Handler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Application logic receives the action and controls argument/context handling.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7360920" y="2542032"/>
            <a:ext cx="205740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Resource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The handler reaches data, service, API, storage or infrastructure operations.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9555480" y="2542032"/>
            <a:ext cx="1920240" cy="187452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Consequence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The path reaches a durable or external effect requiring release review.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22960" y="5074920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Technical line: defined ≠ registered ≠ visible ≠ dispatched ≠ handler-bound ≠ consequence-bound ≠ observed.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PROOF MODEL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10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10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Qualified relationships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Every edge must carry evidence before it advances the claim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713232" y="1417320"/>
            <a:ext cx="3291840" cy="329184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Accepted relationship evidence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source location or artifact reference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qualified relationship type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known limitation state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evidence strength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weakest-state propagation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434840" y="1417320"/>
            <a:ext cx="3291840" cy="329184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Rejected shortcuts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name match alone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comment-only inference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tool exists somewhere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policy without path binding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runtime event without action identity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138160" y="1417320"/>
            <a:ext cx="315468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Reviewer value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inspectable trail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bounded claims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repeatable evidence review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release comparison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portable artifact integrity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731520" y="5166360"/>
            <a:ext cx="10332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This is the difference between a diagram and evidence: every meaningful edge carries proof quality and boundary semantics.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PROOF MODEL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1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1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Source-qualified vs enterprise-supplied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The engine separates code capability from business authority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749808" y="1417320"/>
            <a:ext cx="5074920" cy="214884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Machine-qualified from source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AI-facing capability → model exposure → dispatch → implementation → handler → consequential operation. Qualified relationships establish Code Capability.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6263640" y="1417320"/>
            <a:ext cx="4892040" cy="214884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Enterprise-supplied when applicable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Requested intent, policy rules, Operating Envelope, effective authority evidence, approval context and runtime observation evidence.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749808" y="4069080"/>
            <a:ext cx="1042416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Kestrel interpretation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44 of 44 means every consequential path in the evaluated KestrelVoice result met the Code Capability evidence requirement. It does not claim perfect repository coverage, universal analyzer accuracy or runtime execution.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PROOF MODEL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12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2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Evidence states and claim boundaries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HAIEC advances only as far as the evidence supports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777240" y="1389888"/>
            <a:ext cx="4754880" cy="566928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ESTABLISHED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Evidence supports the claim.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777240" y="2075688"/>
            <a:ext cx="47548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Evidence supports part of the claim.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777240" y="2761488"/>
            <a:ext cx="4754880" cy="566928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NOT ASSESSED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Plane was not evaluated in this run.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777240" y="3447288"/>
            <a:ext cx="4754880" cy="566928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UNRESOLVED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Available evidence cannot support stronger conclusion.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777240" y="4133088"/>
            <a:ext cx="47548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NOT CLAIMED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Out of scope or intentionally unasserted.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263640" y="1645920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Unknown is not safe.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Unknown is also not guilty.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6309360" y="3154680"/>
            <a:ext cx="45262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Technical discipline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Unknown is a boundary requiring evidence. This keeps the review useful without converting missing proof into false certainty.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6309360" y="4773168"/>
            <a:ext cx="4434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This is why REVIEW is an actionable posture, not a disguised failure state.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PROOF MODEL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13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13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Five authority and evidence planes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One plane cannot answer another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640080" y="1444752"/>
            <a:ext cx="214884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Requested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Was the action declared or requested?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2944368" y="1444752"/>
            <a:ext cx="214884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Policy Authorized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Did policy approve capability and scope?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248656" y="1444752"/>
            <a:ext cx="214884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Effectively Granted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Did IAM/provider configuration grant authority?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7552944" y="1444752"/>
            <a:ext cx="2148840" cy="288036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Code Capable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Can implementation reach the consequence?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9857232" y="1444752"/>
            <a:ext cx="214884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Observed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Do logs or witnesses support runtime execution?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731520" y="4937760"/>
            <a:ext cx="10744200" cy="658368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Kestrel result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Code Capability is established for evaluated paths; Requested, Policy Authorized, Effectively Granted and Observed remain release-review planes unless enterprise evidence is attached.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PROOF MODEL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14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4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Code Capability boundary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Capability confirmed in code is not approval or execution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713232" y="1444752"/>
            <a:ext cx="4937760" cy="310896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What Code Capability means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the evaluated source contains a qualified route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the route reaches a consequential operation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source relations support the chain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the claim is pre-release evidence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6263640" y="1444752"/>
            <a:ext cx="4800600" cy="310896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What it does not mean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the action was requested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policy approved the action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the acting identity held authority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runtime execution occurred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the path is automatically a vulnerability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777240" y="4956048"/>
            <a:ext cx="10058400" cy="621792"/>
          </a:xfrm>
          <a:prstGeom prst="roundRect">
            <a:avLst>
              <a:gd fmla="val 264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941832" y="5120640"/>
            <a:ext cx="97292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900"/>
              <a:buFont typeface="Play"/>
              <a:buNone/>
            </a:pPr>
            <a:r>
              <a:rPr b="1" lang="en-US" sz="19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Capability is a review anchor, not an accusation.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PROOF MODEL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15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5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Verified Action Frontier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Where the current evidence stops and the next review action begins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713232" y="1389888"/>
            <a:ext cx="50749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Frontiers convert uncertainty into the next concrete evidence step.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777240" y="2788920"/>
            <a:ext cx="4572000" cy="205740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What it is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last verified step in an action route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evidence checkpoint for stronger claims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review action for release teams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not a vague risk score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6263640" y="1444752"/>
            <a:ext cx="4754880" cy="338328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What it is not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README scan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vulnerability count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defect count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proof of absence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runtime proof by itself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6263640" y="5010912"/>
            <a:ext cx="47548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Kestrel scale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555 frontier checkpoints were generated across 44 evaluated action paths.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PROOF MODEL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16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6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REVIEW decision semantics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REVIEW is not failure; it is the defensible posture for current evidence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685800" y="1307592"/>
            <a:ext cx="5084064" cy="3666744"/>
          </a:xfrm>
          <a:prstGeom prst="roundRect">
            <a:avLst>
              <a:gd fmla="val 3741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decision_crop.png" id="299" name="Google Shape;2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1764919"/>
            <a:ext cx="5029200" cy="275209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6"/>
          <p:cNvSpPr/>
          <p:nvPr/>
        </p:nvSpPr>
        <p:spPr>
          <a:xfrm>
            <a:off x="713232" y="5020056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Kestrel assurance decision view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6263640" y="1417320"/>
            <a:ext cx="4892040" cy="283464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REVIEW means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consequential capability is confirmed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specific release flags remain open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stronger approval needs plane-specific evidence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decision is limited to what evidence supports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6263640" y="4736592"/>
            <a:ext cx="4892040" cy="713232"/>
          </a:xfrm>
          <a:prstGeom prst="roundRect">
            <a:avLst>
              <a:gd fmla="val 23077" name="adj"/>
            </a:avLst>
          </a:prstGeom>
          <a:solidFill>
            <a:srgbClr val="F3FBF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6428232" y="4901184"/>
            <a:ext cx="45628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074632"/>
                </a:solidFill>
                <a:latin typeface="Play"/>
                <a:ea typeface="Play"/>
                <a:cs typeface="Play"/>
                <a:sym typeface="Play"/>
              </a:rPr>
              <a:t>REVIEW is uncertainty made actionable.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PROOF MODEL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17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17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Release Action Flags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Flags become concrete reviewer work, not generic warnings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640080" y="1600200"/>
            <a:ext cx="214884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Attach the approved request, ticket or declared capability.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2944368" y="1600200"/>
            <a:ext cx="214884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Policy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Show the policy or workflow permitting the action.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5248656" y="1600200"/>
            <a:ext cx="214884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Authority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Bind IAM/provider evidence for the acting identity.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7552944" y="1600200"/>
            <a:ext cx="214884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Attach logs, traces or action-witness events.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9857232" y="1600200"/>
            <a:ext cx="2148840" cy="246888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Show approval or containment on the action path.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731520" y="5029200"/>
            <a:ext cx="10607040" cy="530352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Release value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The release team gets a concrete action list instead of a vague risk score.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PROOF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18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18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Kestrel system profile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Working multi-tenant AI SaaS test subject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685800" y="1417320"/>
            <a:ext cx="4526280" cy="3337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Application shape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functional AI service-call application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multi-tenant SaaS architecture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agents use tools and application handlers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evaluation based on frozen source snapshot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authorized test application for submission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5641848" y="1207008"/>
            <a:ext cx="5541264" cy="4032504"/>
          </a:xfrm>
          <a:prstGeom prst="roundRect">
            <a:avLst>
              <a:gd fmla="val 3401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sysProfile_crop.png" id="332" name="Google Shape;3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1679523"/>
            <a:ext cx="5486400" cy="3087473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8"/>
          <p:cNvSpPr/>
          <p:nvPr/>
        </p:nvSpPr>
        <p:spPr>
          <a:xfrm>
            <a:off x="5669280" y="52852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KestrelVoice system profile in HAIEC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731520" y="5468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Why it matters: the product is tested against a real application surface, not a synthetic diagram.</a:t>
            </a:r>
            <a:endParaRPr sz="10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PROOF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19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19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Assurance surface coverage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What HAIEC checked before making a release claim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658368" y="1252728"/>
            <a:ext cx="5632704" cy="3941064"/>
          </a:xfrm>
          <a:prstGeom prst="roundRect">
            <a:avLst>
              <a:gd fmla="val 3480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coverage_crop.png" id="346" name="Google Shape;3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54493"/>
            <a:ext cx="5577840" cy="3137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9"/>
          <p:cNvSpPr/>
          <p:nvPr/>
        </p:nvSpPr>
        <p:spPr>
          <a:xfrm>
            <a:off x="685800" y="5239512"/>
            <a:ext cx="5577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Assurance surface coverage view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6537960" y="1444752"/>
            <a:ext cx="4526280" cy="237744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Four technical questions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What can the AI reach?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What consequence can it cause?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What controls bind that action?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What evidence supports the claim?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6537960" y="4251960"/>
            <a:ext cx="452628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Kestrel output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32 deterministic checks across the evaluated assurance surface. 44 paths confirmed in code. 555 frontier checkpoints produced.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PROOF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20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20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System Consequence Map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One visual entry point into the evaluated source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630936" y="1207008"/>
            <a:ext cx="6547104" cy="4215384"/>
          </a:xfrm>
          <a:prstGeom prst="roundRect">
            <a:avLst>
              <a:gd fmla="val 3254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constellation_crop.png" id="361" name="Google Shape;3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416113"/>
            <a:ext cx="6492240" cy="379717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0"/>
          <p:cNvSpPr/>
          <p:nvPr/>
        </p:nvSpPr>
        <p:spPr>
          <a:xfrm>
            <a:off x="658368" y="5468112"/>
            <a:ext cx="6492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System Consequence Map overview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7406640" y="1508760"/>
            <a:ext cx="374904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Technical interpretation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nodes represent evaluated action-path elements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edges are source-backed relationships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map is a projection of evaluation evidence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not separate diagram truth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>
            <a:hlinkClick r:id="rId4"/>
          </p:cNvPr>
          <p:cNvSpPr/>
          <p:nvPr/>
        </p:nvSpPr>
        <p:spPr>
          <a:xfrm>
            <a:off x="7406640" y="4572000"/>
            <a:ext cx="160020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live map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7406640" y="5074920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Review path: start wide, then inspect the AI action path that matters.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PROOF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21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21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Hero path: ORDER RECORD WRITE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A concrete path reaches a durable business effect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630936" y="1207008"/>
            <a:ext cx="6547104" cy="4215384"/>
          </a:xfrm>
          <a:prstGeom prst="roundRect">
            <a:avLst>
              <a:gd fmla="val 3254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order_crop.png" id="377" name="Google Shape;3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527441"/>
            <a:ext cx="6492240" cy="3574518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1"/>
          <p:cNvSpPr/>
          <p:nvPr/>
        </p:nvSpPr>
        <p:spPr>
          <a:xfrm>
            <a:off x="658368" y="5468112"/>
            <a:ext cx="6492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Focused ORDER RECORD WRITE path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7406640" y="1417320"/>
            <a:ext cx="3749040" cy="105156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Finding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Kestrel’s AI-facing capability reaches application code that can create a durable order record.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7406640" y="2743200"/>
            <a:ext cx="37490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This is the same assurance question as hidden reach: do not tell us what the AI is meant to do; show what paths the source actually makes reachable.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7406640" y="4343400"/>
            <a:ext cx="3749040" cy="749808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Confirmed in source. Runtime execution is not claimed from this evidence alone.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PROOF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22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22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Hero path evidence detail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Source-backed chain and exact claim boundary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22"/>
          <p:cNvCxnSpPr/>
          <p:nvPr/>
        </p:nvCxnSpPr>
        <p:spPr>
          <a:xfrm>
            <a:off x="2774290" y="1897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3" name="Google Shape;393;p22"/>
          <p:cNvCxnSpPr/>
          <p:nvPr/>
        </p:nvCxnSpPr>
        <p:spPr>
          <a:xfrm>
            <a:off x="4954219" y="1897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4" name="Google Shape;394;p22"/>
          <p:cNvCxnSpPr/>
          <p:nvPr/>
        </p:nvCxnSpPr>
        <p:spPr>
          <a:xfrm>
            <a:off x="7134149" y="1897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5" name="Google Shape;395;p22"/>
          <p:cNvCxnSpPr/>
          <p:nvPr/>
        </p:nvCxnSpPr>
        <p:spPr>
          <a:xfrm>
            <a:off x="9314078" y="1897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6" name="Google Shape;396;p22"/>
          <p:cNvSpPr/>
          <p:nvPr/>
        </p:nvSpPr>
        <p:spPr>
          <a:xfrm>
            <a:off x="685800" y="1554480"/>
            <a:ext cx="2070202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AI Service Call Agent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2865730" y="1554480"/>
            <a:ext cx="2070202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AI-facing capability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5045659" y="1554480"/>
            <a:ext cx="2070202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handle_place_order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7225589" y="1554480"/>
            <a:ext cx="2070202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orders.insert(...)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9405518" y="1554480"/>
            <a:ext cx="2070202" cy="68580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ORDER RECORD WRITE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777240" y="2880360"/>
            <a:ext cx="4892040" cy="196596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Source details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source location: pydb_hvac_agent/app/utils/tool_handlers.py:220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operation: orders table insert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customer display label: ORDER RECORD WRITE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evidence strength: capability confirmed in code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6263640" y="2880360"/>
            <a:ext cx="4754880" cy="196596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Claim boundary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not runtime execution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not policy approval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not effective authority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not a vulnerability label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not proof that every adjacent path is covered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822960" y="5394960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The path is valuable because it is inspectable, bounded and tied to a real consequence.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3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PROOF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23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23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Action Proof view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The product exposes evidence, not just the conclusion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658368" y="1207008"/>
            <a:ext cx="6455664" cy="4169664"/>
          </a:xfrm>
          <a:prstGeom prst="roundRect">
            <a:avLst>
              <a:gd fmla="val 3289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actionProof_crop.png" id="415" name="Google Shape;4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44865"/>
            <a:ext cx="6400800" cy="36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3"/>
          <p:cNvSpPr/>
          <p:nvPr/>
        </p:nvSpPr>
        <p:spPr>
          <a:xfrm>
            <a:off x="685800" y="542239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Action proof evidence view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7360920" y="1417320"/>
            <a:ext cx="3886200" cy="2560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What reviewers can inspect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qualified source relation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action path trail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evidence strength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plane separation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frontier and next evidence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7360920" y="4343400"/>
            <a:ext cx="3886200" cy="804672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Technical value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The result can be challenged at the path level rather than accepted as a black-box score.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PROOF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24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24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Path-specific control binding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A control somewhere is not a control on this path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685800" y="1325880"/>
            <a:ext cx="5486400" cy="1325880"/>
          </a:xfrm>
          <a:prstGeom prst="roundRect">
            <a:avLst>
              <a:gd fmla="val 12414" name="adj"/>
            </a:avLst>
          </a:prstGeom>
          <a:solidFill>
            <a:srgbClr val="FFF4D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850392" y="1490472"/>
            <a:ext cx="5157216" cy="996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8A5B10"/>
                </a:solidFill>
                <a:latin typeface="Play"/>
                <a:ea typeface="Play"/>
                <a:cs typeface="Play"/>
                <a:sym typeface="Play"/>
              </a:rPr>
              <a:t>“We have tenant controls” is a system-level statement.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8A5B10"/>
                </a:solidFill>
                <a:latin typeface="Play"/>
                <a:ea typeface="Play"/>
                <a:cs typeface="Play"/>
                <a:sym typeface="Play"/>
              </a:rPr>
              <a:t>HAIEC asks: are they on this path?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6464808" y="1207008"/>
            <a:ext cx="4855464" cy="3346704"/>
          </a:xfrm>
          <a:prstGeom prst="roundRect">
            <a:avLst>
              <a:gd fmla="val 4098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orderMaster_crop.png" id="432" name="Google Shape;4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240" y="1632909"/>
            <a:ext cx="4800600" cy="24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4"/>
          <p:cNvSpPr/>
          <p:nvPr/>
        </p:nvSpPr>
        <p:spPr>
          <a:xfrm>
            <a:off x="6492240" y="4599432"/>
            <a:ext cx="4800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Path context for ORDER RECORD WRITE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777240" y="3063240"/>
            <a:ext cx="507492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Kestrel path finding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Tenant context was present, but tenant filtering and authenticated-subject binding were not established on the exact ORDER RECORD WRITE relation.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777240" y="4617720"/>
            <a:ext cx="5074920" cy="77724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Wider context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Across the evaluated scope, tenant filtering was verified on most applicable relations; this path remained the review-relevant exception.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PROOF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25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25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Resource and service reachability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Reachable does not automatically mean accessed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713232" y="1417320"/>
            <a:ext cx="329184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Resource access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590 relations evaluated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partial coverage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outcome: MIXED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REACHABLE ≠ ACCESSED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4443984" y="1417320"/>
            <a:ext cx="3291840" cy="292608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Service calls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service invocation is tracked separately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SERVICE CALL ≠ RESOURCE ACCESS ESTABLISHED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continuity requires exact relation support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8183880" y="1417320"/>
            <a:ext cx="3063240" cy="292608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Evidence boundary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partial coverage is not hidden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unsupported continuity remains unresolved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reviewer sees what still needs proof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749808" y="4937760"/>
            <a:ext cx="10149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This is how HAIEC handles hidden-reach questions without converting every potential route into a claimed incident.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PROOF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p26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26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6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Persistence and shared-substrate boundaries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6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Not every reachable surface is a proven cross-agent channel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685800" y="1417320"/>
            <a:ext cx="498348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Persistence creation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66 relations evaluated. Candidate persistence-creation paths were present, but not established as observed runtime events.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6263640" y="1417320"/>
            <a:ext cx="4892040" cy="164592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Shared substrate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Shared substrate remained UNKNOWN in the evaluated evidence. SHARED SUBSTRATE ≠ CROSS-AGENT EXFILTRATION.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777240" y="3657600"/>
            <a:ext cx="4892040" cy="960120"/>
          </a:xfrm>
          <a:prstGeom prst="roundRect">
            <a:avLst>
              <a:gd fmla="val 17143" name="adj"/>
            </a:avLst>
          </a:prstGeom>
          <a:solidFill>
            <a:srgbClr val="F3FBF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941832" y="3822192"/>
            <a:ext cx="456285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100"/>
              <a:buFont typeface="Play"/>
              <a:buNone/>
            </a:pPr>
            <a:r>
              <a:rPr b="1" lang="en-US" sz="21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Unknown is a review boundary, not a theatrical claim.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6263640" y="3611880"/>
            <a:ext cx="48920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Review implication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do not assume safe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do not accuse without proof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attach runtime / topology / platform evidence to advance the claim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7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PROOF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p27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27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7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7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Security boundary questions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7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What remains as explicit release evidence work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7"/>
          <p:cNvSpPr/>
          <p:nvPr/>
        </p:nvSpPr>
        <p:spPr>
          <a:xfrm>
            <a:off x="685800" y="1417320"/>
            <a:ext cx="3337560" cy="320040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Secret exposure prevention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evidence needed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do not infer prevention from absence of a path alone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requires source, configuration or runtime proof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7"/>
          <p:cNvSpPr/>
          <p:nvPr/>
        </p:nvSpPr>
        <p:spPr>
          <a:xfrm>
            <a:off x="4434840" y="1417320"/>
            <a:ext cx="3337560" cy="320040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Untrusted input boundary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evidence needed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user/tool input crossing must be bounded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path-specific validation matters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7"/>
          <p:cNvSpPr/>
          <p:nvPr/>
        </p:nvSpPr>
        <p:spPr>
          <a:xfrm>
            <a:off x="8183880" y="1417320"/>
            <a:ext cx="3063240" cy="320040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Positive framing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these are not hidden failures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they are explicit evidence tasks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release review can act on them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7"/>
          <p:cNvSpPr/>
          <p:nvPr/>
        </p:nvSpPr>
        <p:spPr>
          <a:xfrm>
            <a:off x="777240" y="507492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The technical win is not pretending uncertainty disappeared. It is naming where the next proof must attach.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KESTREL PROOF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28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p28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What HAIEC found vs did not claim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The result is stronger because it is bounded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685800" y="1417320"/>
            <a:ext cx="5074920" cy="315468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44 consequential AI action paths confirmed in code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ORDER RECORD WRITE path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path-level evidence boundaries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Release Action Flags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reviewable outputs and manifests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6263640" y="1417320"/>
            <a:ext cx="4892040" cy="315468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Did not claim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runtime execution by Kestrel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44 vulnerabilities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555 defects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universal analyzer coverage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certification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Hugging Face-style escape in Kestrel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777240" y="4892040"/>
            <a:ext cx="10241280" cy="621792"/>
          </a:xfrm>
          <a:prstGeom prst="roundRect">
            <a:avLst>
              <a:gd fmla="val 264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941832" y="5056632"/>
            <a:ext cx="9912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100"/>
              <a:buFont typeface="Play"/>
              <a:buNone/>
            </a:pPr>
            <a:r>
              <a:rPr b="1" lang="en-US" sz="21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Precision is the credibility layer.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PRODUCT EVIDENCE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8" name="Google Shape;498;p29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29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9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One canonical evidence base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Multiple outputs should not create multiple truths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3" name="Google Shape;503;p29"/>
          <p:cNvCxnSpPr/>
          <p:nvPr/>
        </p:nvCxnSpPr>
        <p:spPr>
          <a:xfrm>
            <a:off x="2086138" y="183794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4" name="Google Shape;504;p29"/>
          <p:cNvCxnSpPr/>
          <p:nvPr/>
        </p:nvCxnSpPr>
        <p:spPr>
          <a:xfrm>
            <a:off x="3669357" y="183794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5" name="Google Shape;505;p29"/>
          <p:cNvCxnSpPr/>
          <p:nvPr/>
        </p:nvCxnSpPr>
        <p:spPr>
          <a:xfrm>
            <a:off x="5252575" y="183794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6" name="Google Shape;506;p29"/>
          <p:cNvCxnSpPr/>
          <p:nvPr/>
        </p:nvCxnSpPr>
        <p:spPr>
          <a:xfrm>
            <a:off x="6835793" y="183794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7" name="Google Shape;507;p29"/>
          <p:cNvCxnSpPr/>
          <p:nvPr/>
        </p:nvCxnSpPr>
        <p:spPr>
          <a:xfrm>
            <a:off x="8419011" y="183794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8" name="Google Shape;508;p29"/>
          <p:cNvCxnSpPr/>
          <p:nvPr/>
        </p:nvCxnSpPr>
        <p:spPr>
          <a:xfrm>
            <a:off x="10002230" y="1837944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9" name="Google Shape;509;p29"/>
          <p:cNvSpPr/>
          <p:nvPr/>
        </p:nvSpPr>
        <p:spPr>
          <a:xfrm>
            <a:off x="594360" y="1508760"/>
            <a:ext cx="147349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Frozen source snapshot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9"/>
          <p:cNvSpPr/>
          <p:nvPr/>
        </p:nvSpPr>
        <p:spPr>
          <a:xfrm>
            <a:off x="2177578" y="1508760"/>
            <a:ext cx="1473490" cy="658368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Evidence bundle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9"/>
          <p:cNvSpPr/>
          <p:nvPr/>
        </p:nvSpPr>
        <p:spPr>
          <a:xfrm>
            <a:off x="3760797" y="1508760"/>
            <a:ext cx="147349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9"/>
          <p:cNvSpPr/>
          <p:nvPr/>
        </p:nvSpPr>
        <p:spPr>
          <a:xfrm>
            <a:off x="5344015" y="1508760"/>
            <a:ext cx="147349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9"/>
          <p:cNvSpPr/>
          <p:nvPr/>
        </p:nvSpPr>
        <p:spPr>
          <a:xfrm>
            <a:off x="6927233" y="1508760"/>
            <a:ext cx="147349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Receipt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9"/>
          <p:cNvSpPr/>
          <p:nvPr/>
        </p:nvSpPr>
        <p:spPr>
          <a:xfrm>
            <a:off x="8510451" y="1508760"/>
            <a:ext cx="147349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Passport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10093670" y="1508760"/>
            <a:ext cx="147349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Machine JSON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731520" y="2788920"/>
            <a:ext cx="4983480" cy="141732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Consistency rule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Analyze one frozen snapshot, persist one canonical evidence bundle, and project the same result into audience-specific views.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6263640" y="2788920"/>
            <a:ext cx="480060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Why judges should care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The report, map, Passport, receipt and machine artifacts should agree because they are projections of the same evidence base.</a:t>
            </a:r>
            <a:endParaRPr sz="11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9"/>
          <p:cNvSpPr/>
          <p:nvPr/>
        </p:nvSpPr>
        <p:spPr>
          <a:xfrm>
            <a:off x="777240" y="507492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40"/>
              <a:buFont typeface="Arial"/>
              <a:buNone/>
            </a:pPr>
            <a:r>
              <a:rPr b="1" lang="en-US" sz="134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No separate diagram truth. No separate report truth.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PRODUCT EVIDENCE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30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5" name="Google Shape;525;p30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0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0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Report projections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0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Executive, technical and auditor views share the same evidence source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0"/>
          <p:cNvSpPr/>
          <p:nvPr/>
        </p:nvSpPr>
        <p:spPr>
          <a:xfrm>
            <a:off x="612648" y="1344168"/>
            <a:ext cx="3392424" cy="2478024"/>
          </a:xfrm>
          <a:prstGeom prst="roundRect">
            <a:avLst>
              <a:gd fmla="val 5535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execReport_crop.png" id="530" name="Google Shape;5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44889"/>
            <a:ext cx="3337560" cy="1876582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/>
          <p:nvPr/>
        </p:nvSpPr>
        <p:spPr>
          <a:xfrm>
            <a:off x="640080" y="3867912"/>
            <a:ext cx="3337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Executive report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4407408" y="1344168"/>
            <a:ext cx="3392424" cy="2478024"/>
          </a:xfrm>
          <a:prstGeom prst="roundRect">
            <a:avLst>
              <a:gd fmla="val 5535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techReport_crop.png" id="533" name="Google Shape;53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4840" y="1644889"/>
            <a:ext cx="3337560" cy="1876582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0"/>
          <p:cNvSpPr/>
          <p:nvPr/>
        </p:nvSpPr>
        <p:spPr>
          <a:xfrm>
            <a:off x="4434840" y="3867912"/>
            <a:ext cx="3337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Technical report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8202168" y="1344168"/>
            <a:ext cx="3118104" cy="2478024"/>
          </a:xfrm>
          <a:prstGeom prst="roundRect">
            <a:avLst>
              <a:gd fmla="val 5535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auditorReport_crop.png" id="536" name="Google Shape;53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1722009"/>
            <a:ext cx="3063240" cy="1722343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0"/>
          <p:cNvSpPr/>
          <p:nvPr/>
        </p:nvSpPr>
        <p:spPr>
          <a:xfrm>
            <a:off x="8229600" y="3867912"/>
            <a:ext cx="3063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Auditor report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749808" y="4709160"/>
            <a:ext cx="10332720" cy="77724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Projection principle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Different audience. Same evidence. The profile changes the view, not the canonical result.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1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PRODUCT EVIDENCE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" name="Google Shape;544;p31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" name="Google Shape;545;p31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1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1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Decision Receipt and Passport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1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The action record travels with the release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658368" y="1207008"/>
            <a:ext cx="5632704" cy="3941064"/>
          </a:xfrm>
          <a:prstGeom prst="roundRect">
            <a:avLst>
              <a:gd fmla="val 3480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portable_crop.png" id="550" name="Google Shape;5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69512"/>
            <a:ext cx="5577840" cy="301605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1"/>
          <p:cNvSpPr/>
          <p:nvPr/>
        </p:nvSpPr>
        <p:spPr>
          <a:xfrm>
            <a:off x="685800" y="5193792"/>
            <a:ext cx="5577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Reports, receipts and production passport view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1"/>
          <p:cNvSpPr/>
          <p:nvPr/>
        </p:nvSpPr>
        <p:spPr>
          <a:xfrm>
            <a:off x="6537960" y="1417320"/>
            <a:ext cx="461772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Portable outputs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Decision Receipt preserves bounded posture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Passport carries machine-readable action context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receipt history supports continuity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reports can be retrieved after release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1"/>
          <p:cNvSpPr/>
          <p:nvPr/>
        </p:nvSpPr>
        <p:spPr>
          <a:xfrm>
            <a:off x="6537960" y="4206240"/>
            <a:ext cx="4617720" cy="68580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Important boundary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Portable action record. Not certification.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PRODUCT EVIDENCE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9" name="Google Shape;559;p32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p32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2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2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Machine evidence and manifest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2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Artifacts are inspectable and hash-bound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2"/>
          <p:cNvSpPr/>
          <p:nvPr/>
        </p:nvSpPr>
        <p:spPr>
          <a:xfrm>
            <a:off x="713232" y="1417320"/>
            <a:ext cx="4983480" cy="28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Artifacts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machine-readable assurance JSON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public manifest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evidence manifest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Executive / Technical / Auditor PDFs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README and evidence-pack contents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2"/>
          <p:cNvSpPr/>
          <p:nvPr/>
        </p:nvSpPr>
        <p:spPr>
          <a:xfrm>
            <a:off x="6263640" y="1417320"/>
            <a:ext cx="4846320" cy="283464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Integrity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SHA-256 digests bind outputs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manifest links file identity to evaluation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package consistency can be checked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integrity is separable from semantic re-analysis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2">
            <a:hlinkClick r:id="rId3"/>
          </p:cNvPr>
          <p:cNvSpPr/>
          <p:nvPr/>
        </p:nvSpPr>
        <p:spPr>
          <a:xfrm>
            <a:off x="731520" y="4663440"/>
            <a:ext cx="219456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Gold evidence folder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2">
            <a:hlinkClick r:id="rId5"/>
          </p:cNvPr>
          <p:cNvSpPr/>
          <p:nvPr/>
        </p:nvSpPr>
        <p:spPr>
          <a:xfrm>
            <a:off x="3154680" y="4663440"/>
            <a:ext cx="1920240" cy="329184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Evidence guide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2">
            <a:hlinkClick r:id="rId7"/>
          </p:cNvPr>
          <p:cNvSpPr/>
          <p:nvPr/>
        </p:nvSpPr>
        <p:spPr>
          <a:xfrm>
            <a:off x="5303520" y="4663440"/>
            <a:ext cx="2240280" cy="329184"/>
          </a:xfrm>
          <a:prstGeom prst="rect">
            <a:avLst/>
          </a:prstGeom>
          <a:solidFill>
            <a:srgbClr val="F0F3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Final submission index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3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PRODUCT EVIDENCE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Google Shape;574;p33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33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3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3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Artifact hash anchors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3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Public artifacts are tied to the frozen evaluation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3"/>
          <p:cNvSpPr/>
          <p:nvPr/>
        </p:nvSpPr>
        <p:spPr>
          <a:xfrm>
            <a:off x="731520" y="1325880"/>
            <a:ext cx="10744200" cy="576072"/>
          </a:xfrm>
          <a:prstGeom prst="rect">
            <a:avLst/>
          </a:prstGeom>
          <a:solidFill>
            <a:srgbClr val="F0F3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Public report JSON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6a1dcae3cc557ef251d1d8e505269cc852fbe707c846f9c771ed258e9e86b285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3"/>
          <p:cNvSpPr/>
          <p:nvPr/>
        </p:nvSpPr>
        <p:spPr>
          <a:xfrm>
            <a:off x="731520" y="2020824"/>
            <a:ext cx="10744200" cy="5760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Machine JSON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b21057c803e21cdddf3087d2f3048ee1d85be62f96a66f7ef4cf9368191a5679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3"/>
          <p:cNvSpPr/>
          <p:nvPr/>
        </p:nvSpPr>
        <p:spPr>
          <a:xfrm>
            <a:off x="731520" y="2715768"/>
            <a:ext cx="10744200" cy="576072"/>
          </a:xfrm>
          <a:prstGeom prst="rect">
            <a:avLst/>
          </a:prstGeom>
          <a:solidFill>
            <a:srgbClr val="F0F3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Executive PDF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06cf17662a799305e98564d38f08a891bdc6803fdcacad8648393a553f51bac3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3"/>
          <p:cNvSpPr/>
          <p:nvPr/>
        </p:nvSpPr>
        <p:spPr>
          <a:xfrm>
            <a:off x="731520" y="3410712"/>
            <a:ext cx="10744200" cy="5760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Technical PDF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1f7a202c3271649db9fe9db2f5c2ebe3b136ccd5f4170a6f6cf1452a4f77ac26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3"/>
          <p:cNvSpPr/>
          <p:nvPr/>
        </p:nvSpPr>
        <p:spPr>
          <a:xfrm>
            <a:off x="731520" y="4105656"/>
            <a:ext cx="10744200" cy="576072"/>
          </a:xfrm>
          <a:prstGeom prst="rect">
            <a:avLst/>
          </a:prstGeom>
          <a:solidFill>
            <a:srgbClr val="F0F3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Auditor PDF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7650952ce0831bce3a97ce96360c59466948bc05b425b0192728339de48aa548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3"/>
          <p:cNvSpPr/>
          <p:nvPr/>
        </p:nvSpPr>
        <p:spPr>
          <a:xfrm>
            <a:off x="777240" y="530352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Purpose: let reviewers tie report outputs back to a frozen evidence package instead of trusting screenshots alone.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PRODUCT EVIDENCE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0" name="Google Shape;590;p34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1" name="Google Shape;591;p34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4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4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Verifier scope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4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Integrity verification is not overclaimed as full semantic rediscovery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4"/>
          <p:cNvSpPr/>
          <p:nvPr/>
        </p:nvSpPr>
        <p:spPr>
          <a:xfrm>
            <a:off x="713232" y="1417320"/>
            <a:ext cx="4983480" cy="301752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Verifier checks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artifact hashes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expected files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manifest consistency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decision/output consistency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evidence package integrity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4"/>
          <p:cNvSpPr/>
          <p:nvPr/>
        </p:nvSpPr>
        <p:spPr>
          <a:xfrm>
            <a:off x="6263640" y="1417320"/>
            <a:ext cx="4846320" cy="301752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Verifier does not claim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independent rediscovery of every semantic path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proof of complete repository behavior coverage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runtime execution proof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certification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4"/>
          <p:cNvSpPr/>
          <p:nvPr/>
        </p:nvSpPr>
        <p:spPr>
          <a:xfrm>
            <a:off x="749808" y="4892040"/>
            <a:ext cx="1037844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Positioning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Integrity is machine-verifiable; semantic paths are inspectable through their Action Path Trail.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5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SOURCE TRUST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3" name="Google Shape;603;p35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4" name="Google Shape;604;p35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5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5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Source-code trust model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5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Source is processed transiently; evidence is retained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8" name="Google Shape;608;p35"/>
          <p:cNvCxnSpPr/>
          <p:nvPr/>
        </p:nvCxnSpPr>
        <p:spPr>
          <a:xfrm>
            <a:off x="2774290" y="1897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9" name="Google Shape;609;p35"/>
          <p:cNvCxnSpPr/>
          <p:nvPr/>
        </p:nvCxnSpPr>
        <p:spPr>
          <a:xfrm>
            <a:off x="4954219" y="1897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0" name="Google Shape;610;p35"/>
          <p:cNvCxnSpPr/>
          <p:nvPr/>
        </p:nvCxnSpPr>
        <p:spPr>
          <a:xfrm>
            <a:off x="7134149" y="1897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1" name="Google Shape;611;p35"/>
          <p:cNvCxnSpPr/>
          <p:nvPr/>
        </p:nvCxnSpPr>
        <p:spPr>
          <a:xfrm>
            <a:off x="9314078" y="1897380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2" name="Google Shape;612;p35"/>
          <p:cNvSpPr/>
          <p:nvPr/>
        </p:nvSpPr>
        <p:spPr>
          <a:xfrm>
            <a:off x="685800" y="1554480"/>
            <a:ext cx="2070202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OAuth account link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"/>
          <p:cNvSpPr/>
          <p:nvPr/>
        </p:nvSpPr>
        <p:spPr>
          <a:xfrm>
            <a:off x="2865730" y="1554480"/>
            <a:ext cx="2070202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GitHub App scope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"/>
          <p:cNvSpPr/>
          <p:nvPr/>
        </p:nvSpPr>
        <p:spPr>
          <a:xfrm>
            <a:off x="5045659" y="1554480"/>
            <a:ext cx="2070202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Ephemeral analysis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"/>
          <p:cNvSpPr/>
          <p:nvPr/>
        </p:nvSpPr>
        <p:spPr>
          <a:xfrm>
            <a:off x="7225589" y="1554480"/>
            <a:ext cx="2070202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Discard source workspace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5"/>
          <p:cNvSpPr/>
          <p:nvPr/>
        </p:nvSpPr>
        <p:spPr>
          <a:xfrm>
            <a:off x="9405518" y="1554480"/>
            <a:ext cx="2070202" cy="68580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Retain evidence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5"/>
          <p:cNvSpPr/>
          <p:nvPr/>
        </p:nvSpPr>
        <p:spPr>
          <a:xfrm>
            <a:off x="777240" y="2834640"/>
            <a:ext cx="5074920" cy="137160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Accurate source-handling claim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HAIEC processes authorized source temporarily to analyze it, then retains structured evidence, hashes, metadata, assurance decisions and release artifacts.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5"/>
          <p:cNvSpPr/>
          <p:nvPr/>
        </p:nvSpPr>
        <p:spPr>
          <a:xfrm>
            <a:off x="6263640" y="2834640"/>
            <a:ext cx="4846320" cy="137160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What is not retained as dataset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 persisted repository copy, source archive, or secrets discovered during scanning.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5"/>
          <p:cNvSpPr/>
          <p:nvPr/>
        </p:nvSpPr>
        <p:spPr>
          <a:xfrm>
            <a:off x="777240" y="4937760"/>
            <a:ext cx="10241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Enterprise PoC option: customer-controlled or private analysis deployment can be scoped for teams that cannot permit external source processing.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6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RELEASE COMPARISON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p36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6" name="Google Shape;626;p36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6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6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Why Git diff is insufficient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6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Files changed is not the same as consequences changed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6"/>
          <p:cNvSpPr/>
          <p:nvPr/>
        </p:nvSpPr>
        <p:spPr>
          <a:xfrm>
            <a:off x="713232" y="1417320"/>
            <a:ext cx="5577840" cy="1417320"/>
          </a:xfrm>
          <a:prstGeom prst="roundRect">
            <a:avLst>
              <a:gd fmla="val 11613" name="adj"/>
            </a:avLst>
          </a:prstGeom>
          <a:solidFill>
            <a:srgbClr val="F3FBF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6"/>
          <p:cNvSpPr/>
          <p:nvPr/>
        </p:nvSpPr>
        <p:spPr>
          <a:xfrm>
            <a:off x="877824" y="1581912"/>
            <a:ext cx="524865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300"/>
              <a:buFont typeface="Play"/>
              <a:buNone/>
            </a:pPr>
            <a:r>
              <a:rPr b="1" lang="en-US" sz="23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Git tells you what changed in the code.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300"/>
              <a:buFont typeface="Play"/>
              <a:buNone/>
            </a:pPr>
            <a:r>
              <a:rPr b="1" lang="en-US" sz="23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HAIEC asks what changed in what the AI can cause.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6"/>
          <p:cNvSpPr/>
          <p:nvPr/>
        </p:nvSpPr>
        <p:spPr>
          <a:xfrm>
            <a:off x="804672" y="3273552"/>
            <a:ext cx="49377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Git diff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Answers: what files or lines changed? Useful, but insufficient when an AI path travels through tools, handlers, resources and controls.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6"/>
          <p:cNvSpPr/>
          <p:nvPr/>
        </p:nvSpPr>
        <p:spPr>
          <a:xfrm>
            <a:off x="6629400" y="1874520"/>
            <a:ext cx="4389120" cy="192024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HAIEC Delta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Answers: what changed in consequential reach, control binding, and evidence boundaries?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6"/>
          <p:cNvSpPr/>
          <p:nvPr/>
        </p:nvSpPr>
        <p:spPr>
          <a:xfrm>
            <a:off x="6629400" y="425196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A release can alter assurance even when the interesting change is not obvious from file names.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7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RELEASE COMPARISON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37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1" name="Google Shape;641;p37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7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7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A/B-8 setup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7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Release A → Release B comparison uses completed evaluations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7"/>
          <p:cNvSpPr/>
          <p:nvPr/>
        </p:nvSpPr>
        <p:spPr>
          <a:xfrm>
            <a:off x="630936" y="1207008"/>
            <a:ext cx="6455664" cy="4215384"/>
          </a:xfrm>
          <a:prstGeom prst="roundRect">
            <a:avLst>
              <a:gd fmla="val 3254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compare_crop.png" id="646" name="Google Shape;64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602196"/>
            <a:ext cx="6400800" cy="3425007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37"/>
          <p:cNvSpPr/>
          <p:nvPr/>
        </p:nvSpPr>
        <p:spPr>
          <a:xfrm>
            <a:off x="658368" y="546811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Release A and Release B selected for comparison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7"/>
          <p:cNvSpPr/>
          <p:nvPr/>
        </p:nvSpPr>
        <p:spPr>
          <a:xfrm>
            <a:off x="7360920" y="1417320"/>
            <a:ext cx="3886200" cy="2606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Comparability gates</a:t>
            </a:r>
            <a:endParaRPr sz="10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same organization and AI system</a:t>
            </a:r>
            <a:endParaRPr sz="10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completed evaluations selected</a:t>
            </a:r>
            <a:endParaRPr sz="10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release perimeter comparable</a:t>
            </a:r>
            <a:endParaRPr sz="10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analyzer/version evidence tracked</a:t>
            </a:r>
            <a:endParaRPr sz="10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repeatable comparison path</a:t>
            </a:r>
            <a:endParaRPr sz="10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7"/>
          <p:cNvSpPr/>
          <p:nvPr/>
        </p:nvSpPr>
        <p:spPr>
          <a:xfrm>
            <a:off x="7360920" y="4434840"/>
            <a:ext cx="3886200" cy="77724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Result posture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A/B-8 produced a repeatable comparison while preserving bounded conclusions.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8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RELEASE COMPARISON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5" name="Google Shape;655;p38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6" name="Google Shape;656;p38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8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8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CONTROL_CHANGED established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8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The comparison found a control-evidence transition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8"/>
          <p:cNvSpPr/>
          <p:nvPr/>
        </p:nvSpPr>
        <p:spPr>
          <a:xfrm>
            <a:off x="630936" y="1179576"/>
            <a:ext cx="6547104" cy="4306824"/>
          </a:xfrm>
          <a:prstGeom prst="roundRect">
            <a:avLst>
              <a:gd fmla="val 3185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control_crop.png" id="661" name="Google Shape;6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636953"/>
            <a:ext cx="6492240" cy="339207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38"/>
          <p:cNvSpPr/>
          <p:nvPr/>
        </p:nvSpPr>
        <p:spPr>
          <a:xfrm>
            <a:off x="658368" y="5532120"/>
            <a:ext cx="6492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A/B result: CONTROL_CHANGED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8"/>
          <p:cNvSpPr/>
          <p:nvPr/>
        </p:nvSpPr>
        <p:spPr>
          <a:xfrm>
            <a:off x="7406640" y="1417320"/>
            <a:ext cx="3749040" cy="233172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Established result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CONTROL_CHANGED established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12 established control-change items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evidence moved from DECLARED to DECLARED + PATH_BOUND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comparison repeatable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8"/>
          <p:cNvSpPr/>
          <p:nvPr/>
        </p:nvSpPr>
        <p:spPr>
          <a:xfrm>
            <a:off x="7406640" y="4069080"/>
            <a:ext cx="3749040" cy="118872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Claim boundary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not a blanket “A/B passed” claim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not proof that every expected mutation was established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added/removed remained bounded by absence evidence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9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RELEASE COMPARISON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0" name="Google Shape;670;p39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1" name="Google Shape;671;p39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9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9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DECLARED → DECLARED + PATH_BOUND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9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Control evidence became bound to the path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9"/>
          <p:cNvSpPr/>
          <p:nvPr/>
        </p:nvSpPr>
        <p:spPr>
          <a:xfrm>
            <a:off x="777240" y="1554480"/>
            <a:ext cx="48920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3200"/>
              <a:buFont typeface="Play"/>
              <a:buNone/>
            </a:pPr>
            <a:r>
              <a:rPr b="1" lang="en-US" sz="3200">
                <a:solidFill>
                  <a:srgbClr val="074632"/>
                </a:solidFill>
                <a:latin typeface="Play"/>
                <a:ea typeface="Play"/>
                <a:cs typeface="Play"/>
                <a:sym typeface="Play"/>
              </a:rPr>
              <a:t>DECLARED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3200"/>
              <a:buFont typeface="Play"/>
              <a:buNone/>
            </a:pPr>
            <a:r>
              <a:rPr b="1" lang="en-US" sz="3200">
                <a:solidFill>
                  <a:srgbClr val="074632"/>
                </a:solidFill>
                <a:latin typeface="Play"/>
                <a:ea typeface="Play"/>
                <a:cs typeface="Play"/>
                <a:sym typeface="Play"/>
              </a:rPr>
              <a:t>→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3200"/>
              <a:buFont typeface="Play"/>
              <a:buNone/>
            </a:pPr>
            <a:r>
              <a:rPr b="1" lang="en-US" sz="3200">
                <a:solidFill>
                  <a:srgbClr val="074632"/>
                </a:solidFill>
                <a:latin typeface="Play"/>
                <a:ea typeface="Play"/>
                <a:cs typeface="Play"/>
                <a:sym typeface="Play"/>
              </a:rPr>
              <a:t>DECLARED + PATH_BOUND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9"/>
          <p:cNvSpPr/>
          <p:nvPr/>
        </p:nvSpPr>
        <p:spPr>
          <a:xfrm>
            <a:off x="822960" y="3794760"/>
            <a:ext cx="480060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Technical meaning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 control that was previously only declared gained evidence that bound it to an action path. HAIEC distinguishes declared control from path-bound control.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9"/>
          <p:cNvSpPr/>
          <p:nvPr/>
        </p:nvSpPr>
        <p:spPr>
          <a:xfrm>
            <a:off x="6236208" y="1298448"/>
            <a:ext cx="4946904" cy="3758184"/>
          </a:xfrm>
          <a:prstGeom prst="roundRect">
            <a:avLst>
              <a:gd fmla="val 3650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control_focus_crop.png" id="678" name="Google Shape;67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801654"/>
            <a:ext cx="4892040" cy="2751773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39"/>
          <p:cNvSpPr/>
          <p:nvPr/>
        </p:nvSpPr>
        <p:spPr>
          <a:xfrm>
            <a:off x="6263640" y="5102352"/>
            <a:ext cx="4892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Focused A/B control evidence region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0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RELEASE COMPARISON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5" name="Google Shape;685;p40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6" name="Google Shape;686;p40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0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40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UNRESOLVED ≠ ABSENT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40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Partial absence evidence remains unresolved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0"/>
          <p:cNvSpPr/>
          <p:nvPr/>
        </p:nvSpPr>
        <p:spPr>
          <a:xfrm>
            <a:off x="658368" y="1207008"/>
            <a:ext cx="5404104" cy="4032504"/>
          </a:xfrm>
          <a:prstGeom prst="roundRect">
            <a:avLst>
              <a:gd fmla="val 3401" name="adj"/>
            </a:avLst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tech_companion_crops/unresolved_crop.png" id="691" name="Google Shape;6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25823"/>
            <a:ext cx="5349240" cy="2794874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0"/>
          <p:cNvSpPr/>
          <p:nvPr/>
        </p:nvSpPr>
        <p:spPr>
          <a:xfrm>
            <a:off x="685800" y="5285232"/>
            <a:ext cx="5349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A/B unresolved result view</a:t>
            </a:r>
            <a:endParaRPr sz="7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0"/>
          <p:cNvSpPr/>
          <p:nvPr/>
        </p:nvSpPr>
        <p:spPr>
          <a:xfrm>
            <a:off x="6400800" y="1417320"/>
            <a:ext cx="4343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8A5B10"/>
                </a:solidFill>
                <a:latin typeface="Play"/>
                <a:ea typeface="Play"/>
                <a:cs typeface="Play"/>
                <a:sym typeface="Play"/>
              </a:rPr>
              <a:t>UNRESOLVED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8A5B10"/>
                </a:solidFill>
                <a:latin typeface="Play"/>
                <a:ea typeface="Play"/>
                <a:cs typeface="Play"/>
                <a:sym typeface="Play"/>
              </a:rPr>
              <a:t>≠ ABSENT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0"/>
          <p:cNvSpPr/>
          <p:nvPr/>
        </p:nvSpPr>
        <p:spPr>
          <a:xfrm>
            <a:off x="6400800" y="2880360"/>
            <a:ext cx="4572000" cy="182880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expected added/removed path claims remained inconclusive where absence coverage was partial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HAIEC did not manufacture a stronger conclusion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missing proof became explicit review information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0"/>
          <p:cNvSpPr/>
          <p:nvPr/>
        </p:nvSpPr>
        <p:spPr>
          <a:xfrm>
            <a:off x="6446520" y="5074920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Same discipline before and between releases: do not turn missing evidence into reassuring certainty.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1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RELEASE COMPARISON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p41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p41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1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1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Delta dimensions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1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Consequence Delta compares more than path existence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1"/>
          <p:cNvSpPr/>
          <p:nvPr/>
        </p:nvSpPr>
        <p:spPr>
          <a:xfrm>
            <a:off x="640080" y="1417320"/>
            <a:ext cx="26060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Action consequence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1"/>
          <p:cNvSpPr/>
          <p:nvPr/>
        </p:nvSpPr>
        <p:spPr>
          <a:xfrm>
            <a:off x="3456432" y="1417320"/>
            <a:ext cx="26060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Resource reachability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1"/>
          <p:cNvSpPr/>
          <p:nvPr/>
        </p:nvSpPr>
        <p:spPr>
          <a:xfrm>
            <a:off x="6272784" y="1417320"/>
            <a:ext cx="26060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Service reachability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1"/>
          <p:cNvSpPr/>
          <p:nvPr/>
        </p:nvSpPr>
        <p:spPr>
          <a:xfrm>
            <a:off x="9089136" y="1417320"/>
            <a:ext cx="26060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Agent reachability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1"/>
          <p:cNvSpPr/>
          <p:nvPr/>
        </p:nvSpPr>
        <p:spPr>
          <a:xfrm>
            <a:off x="640080" y="2020824"/>
            <a:ext cx="26060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Shared substrate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1"/>
          <p:cNvSpPr/>
          <p:nvPr/>
        </p:nvSpPr>
        <p:spPr>
          <a:xfrm>
            <a:off x="3456432" y="2020824"/>
            <a:ext cx="2606040" cy="420624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Approval control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1"/>
          <p:cNvSpPr/>
          <p:nvPr/>
        </p:nvSpPr>
        <p:spPr>
          <a:xfrm>
            <a:off x="6272784" y="2020824"/>
            <a:ext cx="26060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Egress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1"/>
          <p:cNvSpPr/>
          <p:nvPr/>
        </p:nvSpPr>
        <p:spPr>
          <a:xfrm>
            <a:off x="9089136" y="2020824"/>
            <a:ext cx="26060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Supply chain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1"/>
          <p:cNvSpPr/>
          <p:nvPr/>
        </p:nvSpPr>
        <p:spPr>
          <a:xfrm>
            <a:off x="640080" y="2624328"/>
            <a:ext cx="26060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Memory/context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1"/>
          <p:cNvSpPr/>
          <p:nvPr/>
        </p:nvSpPr>
        <p:spPr>
          <a:xfrm>
            <a:off x="3456432" y="2624328"/>
            <a:ext cx="26060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Deferred execution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1"/>
          <p:cNvSpPr/>
          <p:nvPr/>
        </p:nvSpPr>
        <p:spPr>
          <a:xfrm>
            <a:off x="6272784" y="2624328"/>
            <a:ext cx="26060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Evaluation integrity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1"/>
          <p:cNvSpPr/>
          <p:nvPr/>
        </p:nvSpPr>
        <p:spPr>
          <a:xfrm>
            <a:off x="9089136" y="2624328"/>
            <a:ext cx="2606040" cy="420624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Evidence coverage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1"/>
          <p:cNvSpPr/>
          <p:nvPr/>
        </p:nvSpPr>
        <p:spPr>
          <a:xfrm>
            <a:off x="713232" y="4983480"/>
            <a:ext cx="10515600" cy="64008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Positioning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Delta compares the system’s consequential reach and assurance boundary, not just source-file differences.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2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ENTERPRISE DEPTH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4" name="Google Shape;724;p42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5" name="Google Shape;725;p42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2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2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Universal capability ontology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2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Standard coverage first; enterprise precision when needed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2"/>
          <p:cNvSpPr/>
          <p:nvPr/>
        </p:nvSpPr>
        <p:spPr>
          <a:xfrm>
            <a:off x="658368" y="1353312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Identity &amp; privilege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2"/>
          <p:cNvSpPr/>
          <p:nvPr/>
        </p:nvSpPr>
        <p:spPr>
          <a:xfrm>
            <a:off x="3355848" y="1353312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Data access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2"/>
          <p:cNvSpPr/>
          <p:nvPr/>
        </p:nvSpPr>
        <p:spPr>
          <a:xfrm>
            <a:off x="6053328" y="1353312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Resource scope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2"/>
          <p:cNvSpPr/>
          <p:nvPr/>
        </p:nvSpPr>
        <p:spPr>
          <a:xfrm>
            <a:off x="8750808" y="1353312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Tool/action execution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2"/>
          <p:cNvSpPr/>
          <p:nvPr/>
        </p:nvSpPr>
        <p:spPr>
          <a:xfrm>
            <a:off x="658368" y="1883664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Configuration actuation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2"/>
          <p:cNvSpPr/>
          <p:nvPr/>
        </p:nvSpPr>
        <p:spPr>
          <a:xfrm>
            <a:off x="3355848" y="1883664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Model lifecycle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2"/>
          <p:cNvSpPr/>
          <p:nvPr/>
        </p:nvSpPr>
        <p:spPr>
          <a:xfrm>
            <a:off x="6053328" y="1883664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RAG/context memory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2"/>
          <p:cNvSpPr/>
          <p:nvPr/>
        </p:nvSpPr>
        <p:spPr>
          <a:xfrm>
            <a:off x="8750808" y="1883664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Inter-agent communication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2"/>
          <p:cNvSpPr/>
          <p:nvPr/>
        </p:nvSpPr>
        <p:spPr>
          <a:xfrm>
            <a:off x="658368" y="2414016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External egress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2"/>
          <p:cNvSpPr/>
          <p:nvPr/>
        </p:nvSpPr>
        <p:spPr>
          <a:xfrm>
            <a:off x="3355848" y="2414016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Persistence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2"/>
          <p:cNvSpPr/>
          <p:nvPr/>
        </p:nvSpPr>
        <p:spPr>
          <a:xfrm>
            <a:off x="6053328" y="2414016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Supply chain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2"/>
          <p:cNvSpPr/>
          <p:nvPr/>
        </p:nvSpPr>
        <p:spPr>
          <a:xfrm>
            <a:off x="8750808" y="2414016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Human authority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2"/>
          <p:cNvSpPr/>
          <p:nvPr/>
        </p:nvSpPr>
        <p:spPr>
          <a:xfrm>
            <a:off x="658368" y="2944368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Resilience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2"/>
          <p:cNvSpPr/>
          <p:nvPr/>
        </p:nvSpPr>
        <p:spPr>
          <a:xfrm>
            <a:off x="3355848" y="2944368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Observability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2"/>
          <p:cNvSpPr/>
          <p:nvPr/>
        </p:nvSpPr>
        <p:spPr>
          <a:xfrm>
            <a:off x="6053328" y="2944368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Privacy/residency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2"/>
          <p:cNvSpPr/>
          <p:nvPr/>
        </p:nvSpPr>
        <p:spPr>
          <a:xfrm>
            <a:off x="8750808" y="2944368"/>
            <a:ext cx="25146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Change/release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2"/>
          <p:cNvSpPr/>
          <p:nvPr/>
        </p:nvSpPr>
        <p:spPr>
          <a:xfrm>
            <a:off x="777240" y="4498848"/>
            <a:ext cx="5120640" cy="868680"/>
          </a:xfrm>
          <a:prstGeom prst="roundRect">
            <a:avLst>
              <a:gd fmla="val 18947" name="adj"/>
            </a:avLst>
          </a:prstGeom>
          <a:solidFill>
            <a:srgbClr val="F3FBF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2"/>
          <p:cNvSpPr/>
          <p:nvPr/>
        </p:nvSpPr>
        <p:spPr>
          <a:xfrm>
            <a:off x="941832" y="4663440"/>
            <a:ext cx="479145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Universal model first.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Qualified enterprise extensions when needed.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2"/>
          <p:cNvSpPr/>
          <p:nvPr/>
        </p:nvSpPr>
        <p:spPr>
          <a:xfrm>
            <a:off x="6355080" y="45262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HAIEC does not force every enterprise into a generic action vocabulary; the standard model can be extended with qualified domain action definitions.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3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ENTERPRISE DEPTH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" name="Google Shape;753;p43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4" name="Google Shape;754;p43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3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3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Requested Capability + Operating Envelope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Business intent becomes an evidence plane, not an assumption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3"/>
          <p:cNvSpPr/>
          <p:nvPr/>
        </p:nvSpPr>
        <p:spPr>
          <a:xfrm>
            <a:off x="713232" y="1417320"/>
            <a:ext cx="4983480" cy="28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Requested Capability Manifest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declared action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resource and scope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business meaning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required guards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operational bounds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3"/>
          <p:cNvSpPr/>
          <p:nvPr/>
        </p:nvSpPr>
        <p:spPr>
          <a:xfrm>
            <a:off x="6263640" y="1417320"/>
            <a:ext cx="4846320" cy="283464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Operating Envelope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allowed operations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resource scopes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data classes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approved tools/models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target count, magnitude and approvals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3"/>
          <p:cNvSpPr/>
          <p:nvPr/>
        </p:nvSpPr>
        <p:spPr>
          <a:xfrm>
            <a:off x="777240" y="4773168"/>
            <a:ext cx="10287000" cy="694944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AI may restart up to five cells after approved maintenance authorization. HAIEC compares that declared intent to what the system can actually reach.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4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ENTERPRISE DEPTH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6" name="Google Shape;766;p44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7" name="Google Shape;767;p44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4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4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Proprietary capability packs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4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Enterprise-specific action recognition while preserving proof quality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4"/>
          <p:cNvSpPr/>
          <p:nvPr/>
        </p:nvSpPr>
        <p:spPr>
          <a:xfrm>
            <a:off x="713232" y="1417320"/>
            <a:ext cx="3337560" cy="297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Recognition inputs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imports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call signatures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SDK operations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routes and annotations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protocol operations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4"/>
          <p:cNvSpPr/>
          <p:nvPr/>
        </p:nvSpPr>
        <p:spPr>
          <a:xfrm>
            <a:off x="4434840" y="1417320"/>
            <a:ext cx="3337560" cy="297180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Semantics captured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canonical action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effect and resource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scope and cardinality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reversibility and timing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authority requirements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4"/>
          <p:cNvSpPr/>
          <p:nvPr/>
        </p:nvSpPr>
        <p:spPr>
          <a:xfrm>
            <a:off x="8183880" y="1417320"/>
            <a:ext cx="3063240" cy="297180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Proof quality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exact vs heuristic matching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provenance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qualification state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known limitations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residual unknowns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4"/>
          <p:cNvSpPr/>
          <p:nvPr/>
        </p:nvSpPr>
        <p:spPr>
          <a:xfrm>
            <a:off x="777240" y="507492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Enterprise packs sharpen recognition; they do not erase claim-boundary discipline.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5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MUNICHTECH ALIGNMENT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0" name="Google Shape;780;p45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1" name="Google Shape;781;p45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5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5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Originality boundary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5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Built during MunichTech on a HAIEC foundation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5"/>
          <p:cNvSpPr/>
          <p:nvPr/>
        </p:nvSpPr>
        <p:spPr>
          <a:xfrm>
            <a:off x="685800" y="1417320"/>
            <a:ext cx="4983480" cy="2514600"/>
          </a:xfrm>
          <a:prstGeom prst="rect">
            <a:avLst/>
          </a:prstGeom>
          <a:solidFill>
            <a:srgbClr val="F0F3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Pre-existing foundation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HAIEC platform and SaaS infrastructure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evaluation engine and evidence services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reporting/output pipeline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repository intelligence foundation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5"/>
          <p:cNvSpPr/>
          <p:nvPr/>
        </p:nvSpPr>
        <p:spPr>
          <a:xfrm>
            <a:off x="6263640" y="1417320"/>
            <a:ext cx="4892040" cy="251460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Built / packaged for MunichTech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System Consequence Map projection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Action assurance views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Passport / Decision Receipt packaging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A/B-8 release comparison evidence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Kestrel evidence pack and public judge path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5"/>
          <p:cNvSpPr/>
          <p:nvPr/>
        </p:nvSpPr>
        <p:spPr>
          <a:xfrm>
            <a:off x="749808" y="4434840"/>
            <a:ext cx="10378440" cy="82296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Disclosure principle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The submission separates the pre-existing platform from the competition-period build and provides public Git/evidence provenance where relevant.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6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MUNICHTECH ALIGNMENT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3" name="Google Shape;793;p46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4" name="Google Shape;794;p46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6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6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Europe and enterprise relevance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6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Provider-independent assurance for consequential AI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6"/>
          <p:cNvSpPr/>
          <p:nvPr/>
        </p:nvSpPr>
        <p:spPr>
          <a:xfrm>
            <a:off x="685800" y="1417320"/>
            <a:ext cx="5577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300"/>
              <a:buFont typeface="Play"/>
              <a:buNone/>
            </a:pPr>
            <a:r>
              <a:rPr b="1" lang="en-US" sz="23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Provider-independent evidence that travels across engineering, security, release, governance and audit.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6"/>
          <p:cNvSpPr/>
          <p:nvPr/>
        </p:nvSpPr>
        <p:spPr>
          <a:xfrm>
            <a:off x="777240" y="3063240"/>
            <a:ext cx="4983480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agentic systems act through tools and services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controls must bind exact paths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evidence must be inspectable across teams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release posture must be defensible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6"/>
          <p:cNvSpPr/>
          <p:nvPr/>
        </p:nvSpPr>
        <p:spPr>
          <a:xfrm>
            <a:off x="6400800" y="1600200"/>
            <a:ext cx="4663440" cy="342900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What HAIEC adds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action-path accountability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bounded claim semantics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portable release records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• technical evidence, not certification overclaim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7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MUNICHTECH ALIGNMENT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6" name="Google Shape;806;p47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7" name="Google Shape;807;p47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7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7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Judge verification and access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7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Recommended technical review order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7">
            <a:hlinkClick r:id="rId3"/>
          </p:cNvPr>
          <p:cNvSpPr/>
          <p:nvPr/>
        </p:nvSpPr>
        <p:spPr>
          <a:xfrm>
            <a:off x="822960" y="1371600"/>
            <a:ext cx="4937760" cy="310896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8A5B1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 · Watch narrated presentation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7">
            <a:hlinkClick r:id="rId5"/>
          </p:cNvPr>
          <p:cNvSpPr/>
          <p:nvPr/>
        </p:nvSpPr>
        <p:spPr>
          <a:xfrm>
            <a:off x="822960" y="1810512"/>
            <a:ext cx="4937760" cy="310896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8A5B1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· Watch product demo video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7">
            <a:hlinkClick r:id="rId7"/>
          </p:cNvPr>
          <p:cNvSpPr/>
          <p:nvPr/>
        </p:nvSpPr>
        <p:spPr>
          <a:xfrm>
            <a:off x="822960" y="2249424"/>
            <a:ext cx="4937760" cy="310896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 · Open public Kestrel report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7">
            <a:hlinkClick r:id="rId9"/>
          </p:cNvPr>
          <p:cNvSpPr/>
          <p:nvPr/>
        </p:nvSpPr>
        <p:spPr>
          <a:xfrm>
            <a:off x="822960" y="2688336"/>
            <a:ext cx="4937760" cy="310896"/>
          </a:xfrm>
          <a:prstGeom prst="rect">
            <a:avLst/>
          </a:prstGeom>
          <a:solidFill>
            <a:srgbClr val="E9F6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4 · Open System Consequence Map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7">
            <a:hlinkClick r:id="rId11"/>
          </p:cNvPr>
          <p:cNvSpPr/>
          <p:nvPr/>
        </p:nvSpPr>
        <p:spPr>
          <a:xfrm>
            <a:off x="822960" y="3127248"/>
            <a:ext cx="4937760" cy="310896"/>
          </a:xfrm>
          <a:prstGeom prst="rect">
            <a:avLst/>
          </a:prstGeom>
          <a:solidFill>
            <a:srgbClr val="F0F3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· Review Gold Evidence Pack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7">
            <a:hlinkClick r:id="rId13"/>
          </p:cNvPr>
          <p:cNvSpPr/>
          <p:nvPr/>
        </p:nvSpPr>
        <p:spPr>
          <a:xfrm>
            <a:off x="822960" y="3566160"/>
            <a:ext cx="4937760" cy="310896"/>
          </a:xfrm>
          <a:prstGeom prst="rect">
            <a:avLst/>
          </a:prstGeom>
          <a:solidFill>
            <a:srgbClr val="F0F3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 · Review A/B-8 Evidence Pack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7">
            <a:hlinkClick r:id="rId15"/>
          </p:cNvPr>
          <p:cNvSpPr/>
          <p:nvPr/>
        </p:nvSpPr>
        <p:spPr>
          <a:xfrm>
            <a:off x="822960" y="4005072"/>
            <a:ext cx="4937760" cy="310896"/>
          </a:xfrm>
          <a:prstGeom prst="rect">
            <a:avLst/>
          </a:prstGeom>
          <a:solidFill>
            <a:srgbClr val="F0F3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7 · Optional interactive workspace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47">
            <a:hlinkClick r:id="rId17"/>
          </p:cNvPr>
          <p:cNvSpPr/>
          <p:nvPr/>
        </p:nvSpPr>
        <p:spPr>
          <a:xfrm>
            <a:off x="822960" y="4443984"/>
            <a:ext cx="4937760" cy="310896"/>
          </a:xfrm>
          <a:prstGeom prst="rect">
            <a:avLst/>
          </a:prstGeom>
          <a:solidFill>
            <a:srgbClr val="F0F3E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 u="sng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8 · Final Submission Index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7"/>
          <p:cNvSpPr/>
          <p:nvPr/>
        </p:nvSpPr>
        <p:spPr>
          <a:xfrm>
            <a:off x="6400800" y="1417320"/>
            <a:ext cx="4526280" cy="2148840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Optional workspace credentials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Login: https://www.haiec.com/login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Email: munich-judge@haiec.com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Password: Kestrel-Judge-2026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Workspace: MunichTech Demo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15211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Demo data only.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7"/>
          <p:cNvSpPr/>
          <p:nvPr/>
        </p:nvSpPr>
        <p:spPr>
          <a:xfrm>
            <a:off x="6400800" y="3977640"/>
            <a:ext cx="4526280" cy="822960"/>
          </a:xfrm>
          <a:prstGeom prst="rect">
            <a:avLst/>
          </a:prstGeom>
          <a:solidFill>
            <a:srgbClr val="F3FBF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Public flagship demo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Kestrel Assurance Report and System Consequence Map require no login.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8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8"/>
          <p:cNvSpPr/>
          <p:nvPr/>
        </p:nvSpPr>
        <p:spPr>
          <a:xfrm>
            <a:off x="502920" y="228600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4D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0B6B4D"/>
                </a:solidFill>
                <a:latin typeface="Arial"/>
                <a:ea typeface="Arial"/>
                <a:cs typeface="Arial"/>
                <a:sym typeface="Arial"/>
              </a:rPr>
              <a:t>FINAL TAKEAWAY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6" name="Google Shape;826;p48"/>
          <p:cNvCxnSpPr/>
          <p:nvPr/>
        </p:nvCxnSpPr>
        <p:spPr>
          <a:xfrm>
            <a:off x="502920" y="635508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7" name="Google Shape;827;p48"/>
          <p:cNvSpPr/>
          <p:nvPr/>
        </p:nvSpPr>
        <p:spPr>
          <a:xfrm>
            <a:off x="502920" y="6473952"/>
            <a:ext cx="7498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82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B8782"/>
                </a:solidFill>
                <a:latin typeface="Arial"/>
                <a:ea typeface="Arial"/>
                <a:cs typeface="Arial"/>
                <a:sym typeface="Arial"/>
              </a:rPr>
              <a:t>AI Action Path Assurance · Technical Evaluation Companion · MunichTech EXPO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8"/>
          <p:cNvSpPr/>
          <p:nvPr/>
        </p:nvSpPr>
        <p:spPr>
          <a:xfrm>
            <a:off x="11109960" y="647395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8"/>
          <p:cNvSpPr/>
          <p:nvPr/>
        </p:nvSpPr>
        <p:spPr>
          <a:xfrm>
            <a:off x="502920" y="52120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2500"/>
              <a:buFont typeface="Play"/>
              <a:buNone/>
            </a:pPr>
            <a:r>
              <a:rPr b="1" lang="en-US" sz="2500">
                <a:solidFill>
                  <a:srgbClr val="15211C"/>
                </a:solidFill>
                <a:latin typeface="Play"/>
                <a:ea typeface="Play"/>
                <a:cs typeface="Play"/>
                <a:sym typeface="Play"/>
              </a:rPr>
              <a:t>Technical takeaway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8"/>
          <p:cNvSpPr/>
          <p:nvPr/>
        </p:nvSpPr>
        <p:spPr>
          <a:xfrm>
            <a:off x="521208" y="9601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5726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5726C"/>
                </a:solidFill>
                <a:latin typeface="Arial"/>
                <a:ea typeface="Arial"/>
                <a:cs typeface="Arial"/>
                <a:sym typeface="Arial"/>
              </a:rPr>
              <a:t>Trace the AI action path to consequence and carry the evidence forward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8"/>
          <p:cNvSpPr/>
          <p:nvPr/>
        </p:nvSpPr>
        <p:spPr>
          <a:xfrm>
            <a:off x="777240" y="1417320"/>
            <a:ext cx="5212080" cy="1005840"/>
          </a:xfrm>
          <a:prstGeom prst="roundRect">
            <a:avLst>
              <a:gd fmla="val 16364" name="adj"/>
            </a:avLst>
          </a:prstGeom>
          <a:solidFill>
            <a:srgbClr val="FFF4D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8"/>
          <p:cNvSpPr/>
          <p:nvPr/>
        </p:nvSpPr>
        <p:spPr>
          <a:xfrm>
            <a:off x="941832" y="1581912"/>
            <a:ext cx="488289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B10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8A5B10"/>
                </a:solidFill>
                <a:latin typeface="Play"/>
                <a:ea typeface="Play"/>
                <a:cs typeface="Play"/>
                <a:sym typeface="Play"/>
              </a:rPr>
              <a:t>Do not stop at prompts, policies or tool lists.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3" name="Google Shape;833;p48"/>
          <p:cNvCxnSpPr/>
          <p:nvPr/>
        </p:nvCxnSpPr>
        <p:spPr>
          <a:xfrm>
            <a:off x="2487168" y="3182112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4" name="Google Shape;834;p48"/>
          <p:cNvCxnSpPr/>
          <p:nvPr/>
        </p:nvCxnSpPr>
        <p:spPr>
          <a:xfrm>
            <a:off x="4288536" y="3182112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5" name="Google Shape;835;p48"/>
          <p:cNvCxnSpPr/>
          <p:nvPr/>
        </p:nvCxnSpPr>
        <p:spPr>
          <a:xfrm>
            <a:off x="6089904" y="3182112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6" name="Google Shape;836;p48"/>
          <p:cNvCxnSpPr/>
          <p:nvPr/>
        </p:nvCxnSpPr>
        <p:spPr>
          <a:xfrm>
            <a:off x="7891272" y="3182112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7" name="Google Shape;837;p48"/>
          <p:cNvCxnSpPr/>
          <p:nvPr/>
        </p:nvCxnSpPr>
        <p:spPr>
          <a:xfrm>
            <a:off x="9692640" y="3182112"/>
            <a:ext cx="73152" cy="0"/>
          </a:xfrm>
          <a:prstGeom prst="straightConnector1">
            <a:avLst/>
          </a:prstGeom>
          <a:noFill/>
          <a:ln cap="flat" cmpd="sng" w="12700">
            <a:solidFill>
              <a:srgbClr val="DCE5D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8" name="Google Shape;838;p48"/>
          <p:cNvSpPr/>
          <p:nvPr/>
        </p:nvSpPr>
        <p:spPr>
          <a:xfrm>
            <a:off x="777240" y="2852928"/>
            <a:ext cx="16916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AI surface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8"/>
          <p:cNvSpPr/>
          <p:nvPr/>
        </p:nvSpPr>
        <p:spPr>
          <a:xfrm>
            <a:off x="2578608" y="2852928"/>
            <a:ext cx="16916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Capability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48"/>
          <p:cNvSpPr/>
          <p:nvPr/>
        </p:nvSpPr>
        <p:spPr>
          <a:xfrm>
            <a:off x="4379976" y="2852928"/>
            <a:ext cx="16916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Handler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48"/>
          <p:cNvSpPr/>
          <p:nvPr/>
        </p:nvSpPr>
        <p:spPr>
          <a:xfrm>
            <a:off x="6181344" y="2852928"/>
            <a:ext cx="16916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Resource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8"/>
          <p:cNvSpPr/>
          <p:nvPr/>
        </p:nvSpPr>
        <p:spPr>
          <a:xfrm>
            <a:off x="7982712" y="2852928"/>
            <a:ext cx="1691640" cy="658368"/>
          </a:xfrm>
          <a:prstGeom prst="rect">
            <a:avLst/>
          </a:prstGeom>
          <a:solidFill>
            <a:srgbClr val="FFF4D8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Consequence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8"/>
          <p:cNvSpPr/>
          <p:nvPr/>
        </p:nvSpPr>
        <p:spPr>
          <a:xfrm>
            <a:off x="9784080" y="2852928"/>
            <a:ext cx="16916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4632"/>
                </a:solidFill>
                <a:latin typeface="Arial"/>
                <a:ea typeface="Arial"/>
                <a:cs typeface="Arial"/>
                <a:sym typeface="Arial"/>
              </a:rPr>
              <a:t>Authority evidence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48"/>
          <p:cNvSpPr/>
          <p:nvPr/>
        </p:nvSpPr>
        <p:spPr>
          <a:xfrm>
            <a:off x="777240" y="4160520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632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74632"/>
                </a:solidFill>
                <a:latin typeface="Play"/>
                <a:ea typeface="Play"/>
                <a:cs typeface="Play"/>
                <a:sym typeface="Play"/>
              </a:rPr>
              <a:t>What can this AI actually cause?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48"/>
          <p:cNvSpPr/>
          <p:nvPr/>
        </p:nvSpPr>
        <p:spPr>
          <a:xfrm>
            <a:off x="822960" y="5074920"/>
            <a:ext cx="9966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25" lIns="73150" spcFirstLastPara="1" rIns="73150" wrap="square" tIns="41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211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5211C"/>
                </a:solidFill>
                <a:latin typeface="Arial"/>
                <a:ea typeface="Arial"/>
                <a:cs typeface="Arial"/>
                <a:sym typeface="Arial"/>
              </a:rPr>
              <a:t>HAIEC turns that question into a deterministic evidence graph, a bounded release posture, a comparison record, and a portable action artifact.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2026-09-18T17:53:35Z</dcterms:created>
  <dc:creator>HAIEC</dc:creator>
</cp:coreProperties>
</file>